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各位老师好，我是网络工程 2203 班的杨佳星。我的毕业论文题目是《基于容器化部署的云文件管理系统设计与实现》。本课题面向本科毕业设计场景，完成了一套可以运行、可以部署、可以演示的轻量级云文件管理系统。汇报中我会重点说明系统为什么要做、怎么设计、如何通过 Docker Compose 编排运行，以及最终实现了哪些核心功能和运行效果。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为四个部分。第一部分说明选题背景和课题目标，第二部分说明系统设计和容器化部署，第三部分说明文件管理、预览分享、用户隔离与回收站等核心实现，第四部分说明测试验证、系统运行界面和总结展望。整体汇报不会把系统包装成企业级云盘，而是按照本科毕业设计的真实实现范围进行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题的背景来自学习和课程设计中的文件管理需求。文件数量增多后，单纯依赖本地目录容易出现文件分散、版本混乱和预览不便。另一方面，毕业设计系统在答辩时还要面对部署环境变化，比如数据库初始化、缓存、静态资源路径和文件目录权限等问题。基于这些问题，我把课题定位为通过容器化方式支撑一个轻量级云文件管理系统，让系统能够在统一环境中快速启动和稳定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本系统的目标可以概括为两个方面：一是完成文件管理业务闭环，包括登录、上传、目录管理、下载预览、分享访问、回收站和存储统计；二是完成容器化部署闭环，把 Nginx、后端服务、MySQL 和 Redis 统一到 Docker Compose 编排中。技术路线采用 Vue 3 和 Element Plus 构建前端，Spring Boot 和 MyBatis-Plus 构建后端，MySQL 保存业务元数据，Redis 保存临时状态，最终通过 Nginx 对外提供统一入口。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系统总体采用前后端分离的 B/S 架构。浏览器首先访问 Nginx，Nginx 一方面返回前端静态页面，另一方面把 /api 请求转发给后端。后端负责用户认证、文件管理、分享、回收站、统计和预览访问控制。MySQL 用于保存用户、文件、分享和回收站等元数据，Redis 用于保存短生命周期状态，本地持久化目录保存真实上传文件。这样系统各层职责比较清晰，便于部署和排查问题。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这一页展示容器化部署流程。执行 docker compose up -d --build 后，Compose 会构建后端镜像，创建内部网络和数据卷，然后启动 MySQL 与 Redis。MySQL 健康检查通过后，后端服务再启动，并执行数据库兼容补丁，例如补齐 user_id 字段、索引和 demo 演示账号。最后 Nginx 作为统一入口提供前端访问和接口代理。这个流程的意义是降低环境差异，方便答辩现场恢复系统运行状态。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容器编排关系是本课题的一个重点。系统中 lfs-nginx 对外暴露 80 端口，负责静态资源和反向代理；lfs-backend 运行 Spring Boot 业务接口；lfs-mysql 保存业务数据；lfs-redis 保存上传分片状态和转码进度等临时信息；上传文件目录通过数据卷持久化。文件上传、下载、预览、分享、回收站和统计功能都依赖这些容器之间的协作，而不是某一个单独页面完成。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文件管理模块主要负责上传、列表、目录、重命名、移动和删除。上传时，系统既要把物理文件保存到持久化目录，也要在 lfs_file 表中写入文件名、大小、类型、父目录和用户归属等元数据。目录记录同样存储在文件表中，通过 is_dir 字段区分。移动文件主要更新 parent_id，删除操作会进入回收站，而不是立即物理删除。这样前端页面操作、数据库元数据和文件目录能够保持一致。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预览与分享模块主要解决访问链路和边界控制问题。系统将 /api/files、/api/thum 和 /api/trans 三类预览路径统一交给 FilePreviewController 处理，控制器负责路径归一化、secret 与 expire 签名校验、路径越界检查和响应头设置。分享模块采用分享码加有效期的方式，访问分享页不需要登录，但仍然保持轻量匿名访问边界，不扩展为复杂协作权限系统。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用户隔离采用 admin 和 demo 两类账号。admin 是管理员视角，可以查看全量文件数据；demo 是普通演示用户，只能查看自己的文件空间。这个隔离不是单纯依赖前端隐藏按钮，而是后端通过 CurrentUserService 识别当前用户，再在文件列表、回收站和统计查询中追加 user_id 条件。lfs_file.user_id 字段被放在这里说明，因为它服务于用户隔离和统计视角，而不是单独展开成表结构页面。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测试部分覆盖容器层、业务层、访问控制层和异常回归层。论文中整理了 T1 到 T17 的测试项，包括容器启动、数据库兼容补丁、登录、上传、预览、分享、回收站、双用户隔离和非法访问拒绝等。自动化测试包括五个测试类，共 24 个用例，覆盖当前用户识别、兼容补丁、分享服务、存储统计和预览控制器。测试目标是验证关键链路稳定，而不是包装成没有数据支撑的性能评测。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这一页展示第一组真实运行界面，包括登录入口、文件空间和文件列表。登录后用户进入文件管理页面，可以看到目录结构、文件列表、文件类型、时间等信息。这里展示的是系统作为一个可运行 Web 应用的基础状态，也为后面的上传、预览、分享和回收站操作提供入口。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二组运行界面，重点是预览和分享。文件预览可以通过统一路径正常返回，分享弹窗可以生成分享链接和有效期，匿名访问页能够打开分享内容。这里对应前面讲到的预览访问链路和分享码机制，说明系统不仅有页面，而且完成了从创建分享到访问分享的业务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这一页展示第三组运行界面，重点是用户视角、统计信息和容器运行状态。文件列表、回收站和统计按照当前用户视角展示，避免出现列表不可见但统计仍然计入的问题。右侧终端截图展示 Docker Compose 相关容器处于运行状态，说明前端入口、后端、MySQL 和 Redis 能够按编排协同启动。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最后进行总结。本课题完成了云文件管理系统的总体架构设计，实现了登录认证、文件上传、目录管理、在线预览、分享访问、回收站、存储统计和容器化部署；通过 user_id 和 CurrentUserService 实现轻量用户隔离；通过路径归一化和签名校验统一预览链路；并通过功能测试、异常测试和自动化测试完成验证。不足之处是权限模型仍比较简单，存储以本地目录为主，监控运维能力也较基础。后续可以继续扩展团队空间、对象存储、分享策略和日志监控。我的汇报到此结束，感谢各位老师，敬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2"/>
          </a:solidFill>
          <a:ln w="12700">
            <a:solidFill>
              <a:srgbClr val="0A2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-320040"/>
            <a:ext cx="3840480" cy="1051560"/>
          </a:xfrm>
          <a:prstGeom prst="rect">
            <a:avLst/>
          </a:prstGeom>
          <a:solidFill>
            <a:srgbClr val="0F4C82">
              <a:alpha val="92000"/>
            </a:srgbClr>
          </a:solidFill>
          <a:ln w="12700">
            <a:solidFill>
              <a:srgbClr val="0F4C8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23960" y="530352"/>
            <a:ext cx="4023360" cy="457200"/>
          </a:xfrm>
          <a:prstGeom prst="rect">
            <a:avLst/>
          </a:prstGeom>
          <a:solidFill>
            <a:srgbClr val="2D6EA3">
              <a:alpha val="80000"/>
            </a:srgbClr>
          </a:solidFill>
          <a:ln w="12700">
            <a:solidFill>
              <a:srgbClr val="2D6EA3">
                <a:alpha val="0"/>
              </a:srgbClr>
            </a:solidFill>
            <a:prstDash val="solid"/>
          </a:ln>
        </p:spPr>
      </p:sp>
      <p:pic>
        <p:nvPicPr>
          <p:cNvPr id="52" name="Image 0" descr="/Users/rexanyang/Desktop/bishe/graduatejob-main/docs/ppt/assets/docx_media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0912" y="658368"/>
            <a:ext cx="2157984" cy="43891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4828032" y="1444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BD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本科毕业论文答辩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93392" y="2084832"/>
            <a:ext cx="8211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3000" dirty="0"/>
          </a:p>
        </p:txBody>
      </p:sp>
      <p:sp>
        <p:nvSpPr>
          <p:cNvPr id="55" name="Text 52"/>
          <p:cNvSpPr/>
          <p:nvPr/>
        </p:nvSpPr>
        <p:spPr>
          <a:xfrm>
            <a:off x="2743200" y="2788920"/>
            <a:ext cx="6702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File Management System Based on Containerized Deployment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2953512" y="3054096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D9EA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一键部署 Spring Boot + Vue 3 真实可运行系统</a:t>
            </a:r>
            <a:endParaRPr lang="en-US" sz="940" dirty="0"/>
          </a:p>
        </p:txBody>
      </p:sp>
      <p:sp>
        <p:nvSpPr>
          <p:cNvPr id="57" name="Shape 54"/>
          <p:cNvSpPr/>
          <p:nvPr/>
        </p:nvSpPr>
        <p:spPr>
          <a:xfrm>
            <a:off x="3767328" y="3364992"/>
            <a:ext cx="4645152" cy="9144"/>
          </a:xfrm>
          <a:prstGeom prst="rect">
            <a:avLst/>
          </a:prstGeom>
          <a:solidFill>
            <a:srgbClr val="A7CBE8">
              <a:alpha val="80000"/>
            </a:srgbClr>
          </a:solidFill>
          <a:ln w="12700">
            <a:solidFill>
              <a:srgbClr val="A7CBE8">
                <a:alpha val="8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55264" y="38862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7F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答辩学生：杨佳星    指导教师：王晓梅老师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3584448" y="4224528"/>
            <a:ext cx="5010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2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计算机学院 · 网络工程 2203 · 学号 04222088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444752" y="2286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F4C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681728" y="9784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40680" y="914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选题背景与研究目标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1261872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背景意义、课题定位、完成范围与技术路线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681728" y="205740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4068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34086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总体架构、部署流程、容器编排关系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681728" y="31363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40680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34198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文件管理、预览分享、用户隔离与回收站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681728" y="421538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40680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449884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测试验证、系统界面展示、总结展望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选题背景与目标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41248"/>
            <a:ext cx="4800600" cy="4041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3_2_network_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987552"/>
            <a:ext cx="4507992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50992" y="914400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97296" y="103327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现实需求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97296" y="135331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学习资料、课程设计、项目文档持续增多，文件管理需要上传、共享、预览和归档能力。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50992" y="1947672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97296" y="2066544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部署痛点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797296" y="238658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Web 系统依赖本机环境、数据库初始化、路径权限和静态资源配置，迁移演示成本较高。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50992" y="2980944"/>
            <a:ext cx="528523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97296" y="3099816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课题价值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797296" y="341985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通过容器化编排把前端、后端、数据库、缓存和代理统一起来，提升复现和演示稳定性。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0352" y="5001768"/>
            <a:ext cx="10405872" cy="786384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" y="5120640"/>
            <a:ext cx="10113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课题定位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76656" y="5440680"/>
            <a:ext cx="10113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本课题不是做大型商业网盘，而是面向本科毕业设计场景，完成一个可运行、可部署、可演示、可验证的轻量级云文件管理系统。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研究目标与技术路线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选题背景与目标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68680"/>
            <a:ext cx="3767328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987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完成的功能范围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5910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910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41248" y="2139696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24942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468880" y="2139696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24942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下载预览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41248" y="2798064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9077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68880" y="2798064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9077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41248" y="3456432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5661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存储统计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468880" y="3456432"/>
            <a:ext cx="1298448" cy="384048"/>
          </a:xfrm>
          <a:prstGeom prst="rect">
            <a:avLst/>
          </a:prstGeom>
          <a:solidFill>
            <a:srgbClr val="F0F6FC"/>
          </a:solidFill>
          <a:ln w="6985">
            <a:solidFill>
              <a:srgbClr val="D8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56616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容器部署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0352" y="4736592"/>
            <a:ext cx="3767328" cy="896112"/>
          </a:xfrm>
          <a:prstGeom prst="rect">
            <a:avLst/>
          </a:prstGeom>
          <a:solidFill>
            <a:srgbClr val="FFF6E8"/>
          </a:solidFill>
          <a:ln w="10160">
            <a:solidFill>
              <a:srgbClr val="F0D4A5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" y="4855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答辩边界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" y="5175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系统按本科毕设范围实现，不包装为企业级多租户平台，也不引入完整 RBAC、审批流或大规模分布式存储。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4681728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828032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确定业务闭环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5797296" y="1581912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35040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6181344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划分系统层次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7150608" y="1581912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88352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核心实现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7534656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文件/预览/分享</a:t>
            </a:r>
            <a:endParaRPr lang="en-US" sz="660" dirty="0"/>
          </a:p>
        </p:txBody>
      </p:sp>
      <p:sp>
        <p:nvSpPr>
          <p:cNvPr id="40" name="Shape 38"/>
          <p:cNvSpPr/>
          <p:nvPr/>
        </p:nvSpPr>
        <p:spPr>
          <a:xfrm>
            <a:off x="8503920" y="1581912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41664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968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容器部署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887968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编排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9857232" y="1581912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094976" y="1170432"/>
            <a:ext cx="107899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12893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0241280" y="160934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功能与异常测试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4663440" y="2743200"/>
            <a:ext cx="6364224" cy="20665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09744" y="2862072"/>
            <a:ext cx="6071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技术栈组合与实现思路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809744" y="3182112"/>
            <a:ext cx="6071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前端负责文件空间和操作界面，后端提供 REST 接口，MySQL 保存业务元数据，Redis 保存临时状态，Nginx 与 Docker Compose 负责统一访问和部署。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4956048" y="38221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前端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687568" y="3822192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Vue 3 / Element Plus / Vite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56048" y="413308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后端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87568" y="413308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Spring Boot 3.2.2 / MyBatis-Plus / JWT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56048" y="44439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数据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87568" y="444398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MySQL 8 / Redis 7 / 本地持久化目录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56048" y="475488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82"/>
                </a:solidFill>
              </a:rPr>
              <a:t>部署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87568" y="475488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Nginx / Docker / Docker Compose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07408" y="804672"/>
            <a:ext cx="6537960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3_1_system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17136" y="914400"/>
            <a:ext cx="6318504" cy="40050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914400"/>
            <a:ext cx="3456432" cy="713232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" y="103327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" y="135331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页面、文件列表、分享访问、预览界面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530352" y="1874520"/>
            <a:ext cx="345643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" y="199339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" y="231343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认证、文件、分享、回收站、统计与预览接口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530352" y="2834640"/>
            <a:ext cx="3456432" cy="713232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" y="295351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数据与资源层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656" y="327355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元数据、Redis 临时状态、本地文件目录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530352" y="3794760"/>
            <a:ext cx="345643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76656" y="3913632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部署与代理层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656" y="423367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统一入口，Compose 编排核心容器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530352" y="5193792"/>
            <a:ext cx="10405872" cy="56692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" y="5312664"/>
            <a:ext cx="10113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设计说明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76656" y="5632704"/>
            <a:ext cx="101132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系统采用前后端分离 B/S 架构：浏览器访问 Nginx，Nginx 分发前端页面并代理 /api 请求，后端再连接 MySQL、Redis 和本地文件目录。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容器化部署流程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up -d --build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249424" y="1499616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1576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6207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创建资源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6207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内部网络、数据卷、镜像构建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398264" y="1499616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6460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基础服务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1091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与 Redis 启动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547104" y="1499616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1344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975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后端启动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975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健康检查后执行兼容补丁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695944" y="1499616"/>
            <a:ext cx="384048" cy="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62288" y="1060704"/>
            <a:ext cx="1609344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08592" y="117957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08592" y="1499616"/>
            <a:ext cx="13167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代理前端与接口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66928" y="2578608"/>
            <a:ext cx="2852928" cy="111556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3232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为什么容器化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13232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答辩环境可能变化，容器化能固化启动顺序、网络、数据卷和依赖版本。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657600" y="2578608"/>
            <a:ext cx="2852928" cy="111556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03904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启动依赖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03904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健康检查通过后后端再启动，并自动补齐字段、索引和 demo 演示账号。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748272" y="2578608"/>
            <a:ext cx="2852928" cy="111556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94576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持久化设计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94576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数据、Redis 状态和上传文件目录通过数据卷挂载，避免容器重建后数据丢失。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66928" y="4041648"/>
            <a:ext cx="9985248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37" name="Image 0" descr="/Users/rexanyang/Desktop/bishe/graduatejob-main/docs/ppt/assets/docx_media/image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4087368"/>
            <a:ext cx="9893808" cy="9144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66928" y="5093208"/>
            <a:ext cx="9985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真实运行截图：Docker Compose 启动与容器状态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566928" y="5468112"/>
            <a:ext cx="9985248" cy="38404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13232" y="5596128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传统部署也能运行，但容器化更适合毕业答辩现场复现：执行 compose 启动后即可恢复前端入口、后端服务、数据库和缓存。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容器编排关系与功能支撑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系统设计与容器化部署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25696" y="932688"/>
            <a:ext cx="2011680" cy="74980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05156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lfs-nginx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/ 反向代理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25696" y="2267712"/>
            <a:ext cx="20116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38658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7066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业务接口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43000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9304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lfs-mysql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9304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用户、文件、分享、回收站元数据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498848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lfs-redis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上传分片与转码进度状态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699248" y="3712464"/>
            <a:ext cx="1901952" cy="74980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45552" y="383133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45552" y="41513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上传文件与数据库持久化目录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553712" y="4754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2"/>
                </a:solidFill>
              </a:rPr>
              <a:t>Browser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31536" y="658368"/>
            <a:ext cx="0" cy="228600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31536" y="1737360"/>
            <a:ext cx="0" cy="347472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834640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数据读写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3291840" y="3511296"/>
            <a:ext cx="0" cy="219456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047488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临时状态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5504688" y="3511296"/>
            <a:ext cx="0" cy="219456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193024" y="334670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文件读写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8650224" y="3511296"/>
            <a:ext cx="0" cy="219456"/>
          </a:xfrm>
          <a:prstGeom prst="line">
            <a:avLst/>
          </a:prstGeom>
          <a:noFill/>
          <a:ln w="15240">
            <a:solidFill>
              <a:srgbClr val="0F4C8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5084064"/>
            <a:ext cx="9930384" cy="694944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" y="5202936"/>
            <a:ext cx="963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功能支撑关系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" y="5522976"/>
            <a:ext cx="9637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AF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上传/下载依赖后端与文件卷；预览依赖 Nginx 代理、后端签名校验和本地资源读取；分享、回收站和统计依赖 MySQL 元数据与 user_id 查询过滤。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核心功能实现一：文件管理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04672"/>
            <a:ext cx="5358384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4_3_upload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14400"/>
            <a:ext cx="5138928" cy="33467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932688"/>
            <a:ext cx="4407408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1" name="Image 1" descr="/Users/rexanyang/Desktop/bishe/graduatejob-main/docs/ppt/assets/docx_media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27064" y="960120"/>
            <a:ext cx="4352544" cy="22311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3264408"/>
            <a:ext cx="44074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真实系统截图：文件列表与目录管理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6199632" y="3767328"/>
            <a:ext cx="4407408" cy="932688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45936" y="38862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实现要点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45936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上传时同步保存物理文件与 lfs_file 元数据；目录通过 is_dir 记录构建；移动主要更新 parent_id。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530352" y="4864608"/>
            <a:ext cx="10058400" cy="768096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6656" y="4983480"/>
            <a:ext cx="9765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功能讲解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76656" y="5303520"/>
            <a:ext cx="9765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文件管理模块形成“上传、列表、目录、移动、重命名、删除”的基础链路。删除操作先进入回收站，保留恢复空间，不会立即清理物理文件。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核心功能实现二：预览与分享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22960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4_8_preview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32688"/>
            <a:ext cx="5193792" cy="29077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9632" y="877824"/>
            <a:ext cx="4434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1" name="Image 1" descr="/Users/rexanyang/Desktop/bishe/graduatejob-main/docs/ppt/assets/docx_media/image1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27064" y="905256"/>
            <a:ext cx="4379976" cy="1362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2340864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文件预览返回正常</a:t>
            </a:r>
            <a:endParaRPr lang="en-US" sz="720" dirty="0"/>
          </a:p>
        </p:txBody>
      </p:sp>
      <p:sp>
        <p:nvSpPr>
          <p:cNvPr id="13" name="Shape 9"/>
          <p:cNvSpPr/>
          <p:nvPr/>
        </p:nvSpPr>
        <p:spPr>
          <a:xfrm>
            <a:off x="6199632" y="2615184"/>
            <a:ext cx="208483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4" name="Image 2" descr="/Users/rexanyang/Desktop/bishe/graduatejob-main/docs/ppt/assets/docx_media/image2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27064" y="2642616"/>
            <a:ext cx="2029968" cy="11155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9632" y="38313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</a:t>
            </a:r>
            <a:endParaRPr lang="en-US" sz="720" dirty="0"/>
          </a:p>
        </p:txBody>
      </p:sp>
      <p:sp>
        <p:nvSpPr>
          <p:cNvPr id="16" name="Shape 11"/>
          <p:cNvSpPr/>
          <p:nvPr/>
        </p:nvSpPr>
        <p:spPr>
          <a:xfrm>
            <a:off x="8549640" y="2615184"/>
            <a:ext cx="2084832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7" name="Image 3" descr="/Users/rexanyang/Desktop/bishe/graduatejob-main/docs/ppt/assets/docx_media/image2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2" y="2642616"/>
            <a:ext cx="2029968" cy="11155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3831336"/>
            <a:ext cx="2084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</a:t>
            </a:r>
            <a:endParaRPr lang="en-US" sz="720" dirty="0"/>
          </a:p>
        </p:txBody>
      </p:sp>
      <p:sp>
        <p:nvSpPr>
          <p:cNvPr id="19" name="Shape 13"/>
          <p:cNvSpPr/>
          <p:nvPr/>
        </p:nvSpPr>
        <p:spPr>
          <a:xfrm>
            <a:off x="530352" y="4187952"/>
            <a:ext cx="5413248" cy="786384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76656" y="43068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预览控制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76656" y="46268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FilePreviewController 统一处理 /api/files、/api/thum、/api/trans，先做路径归一化，再校验 secret + expire，并检查路径是否越界。</a:t>
            </a:r>
            <a:endParaRPr lang="en-US" sz="810" dirty="0"/>
          </a:p>
        </p:txBody>
      </p:sp>
      <p:sp>
        <p:nvSpPr>
          <p:cNvPr id="22" name="Shape 16"/>
          <p:cNvSpPr/>
          <p:nvPr/>
        </p:nvSpPr>
        <p:spPr>
          <a:xfrm>
            <a:off x="6199632" y="4187952"/>
            <a:ext cx="4434840" cy="786384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345936" y="43068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分享边界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45936" y="462686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分享采用“分享码 + 有效期 + 匿名访问”。它用于轻量演示访问，不扩展为复杂协作权限系统。</a:t>
            </a:r>
            <a:endParaRPr lang="en-US" sz="810" dirty="0"/>
          </a:p>
        </p:txBody>
      </p:sp>
      <p:sp>
        <p:nvSpPr>
          <p:cNvPr id="25" name="Shape 19"/>
          <p:cNvSpPr/>
          <p:nvPr/>
        </p:nvSpPr>
        <p:spPr>
          <a:xfrm>
            <a:off x="530352" y="5257800"/>
            <a:ext cx="10104120" cy="420624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76656" y="5385816"/>
            <a:ext cx="9811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这页重点说明：预览不是简单返回文件，而是把路径处理、安全校验和文件输出收敛在后端统一入口。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核心功能实现三：用户隔离、回收站与统计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68680"/>
            <a:ext cx="3236976" cy="786384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9875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管理员视角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130759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可查看和管理全量文件数据，用于展示系统完整数据。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30352" y="1847088"/>
            <a:ext cx="3236976" cy="786384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" y="196596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普通用户视角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" y="228600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查询时追加 user_id = currentUserId，仅命中自身文件空间。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30352" y="2825496"/>
            <a:ext cx="3236976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" y="294436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隔离落点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" y="326440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隔离不是前端隐藏按钮，而是后端识别当前用户并追加 SQL 归属条件。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30352" y="3803904"/>
            <a:ext cx="3236976" cy="786384"/>
          </a:xfrm>
          <a:prstGeom prst="rect">
            <a:avLst/>
          </a:prstGeom>
          <a:solidFill>
            <a:srgbClr val="FFF6E8"/>
          </a:solidFill>
          <a:ln w="10160">
            <a:solidFill>
              <a:srgbClr val="F0D4A5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" y="392277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设计取舍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" y="424281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本课题定位轻量级演示系统，暂不引入完整 Spring Security / RBAC。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13232" y="4882896"/>
            <a:ext cx="1572768" cy="256032"/>
          </a:xfrm>
          <a:prstGeom prst="roundRect">
            <a:avLst/>
          </a:prstGeom>
          <a:solidFill>
            <a:srgbClr val="E9F4FC"/>
          </a:solidFill>
          <a:ln w="5715">
            <a:solidFill>
              <a:srgbClr val="D2E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93776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CurrentUserService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423160" y="4882896"/>
            <a:ext cx="1389888" cy="256032"/>
          </a:xfrm>
          <a:prstGeom prst="roundRect">
            <a:avLst/>
          </a:prstGeom>
          <a:solidFill>
            <a:srgbClr val="E9F4FC"/>
          </a:solidFill>
          <a:ln w="5715">
            <a:solidFill>
              <a:srgbClr val="D2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78024" y="493776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lfs_file.user_id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160520" y="914400"/>
            <a:ext cx="3090672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25" name="Image 0" descr="/Users/rexanyang/Desktop/bishe/graduatejob-main/docs/ppt/assets/docx_media/image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87952" y="941832"/>
            <a:ext cx="3035808" cy="13624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60520" y="2377440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用户文件空间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7498080" y="914400"/>
            <a:ext cx="3090672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28" name="Image 1" descr="/Users/rexanyang/Desktop/bishe/graduatejob-main/docs/ppt/assets/docx_media/image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25512" y="941832"/>
            <a:ext cx="3035808" cy="1362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98080" y="2377440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统计/视角验证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4160520" y="3127248"/>
            <a:ext cx="6428232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31" name="Image 2" descr="/Users/rexanyang/Desktop/bishe/graduatejob-main/docs/ppt/assets/docx_media/image2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87952" y="3154680"/>
            <a:ext cx="6373368" cy="1362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160520" y="4590288"/>
            <a:ext cx="6428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真实系统截图：文件列表与用户视角</a:t>
            </a:r>
            <a:endParaRPr lang="en-US" sz="720" dirty="0"/>
          </a:p>
        </p:txBody>
      </p:sp>
      <p:sp>
        <p:nvSpPr>
          <p:cNvPr id="33" name="Shape 28"/>
          <p:cNvSpPr/>
          <p:nvPr/>
        </p:nvSpPr>
        <p:spPr>
          <a:xfrm>
            <a:off x="4160520" y="5047488"/>
            <a:ext cx="6428232" cy="47548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306824" y="5175504"/>
            <a:ext cx="613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文件列表、回收站和存储统计共享同一用户视角，避免“列表不可见但统计仍计入”的问题。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系统测试与验证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41248"/>
            <a:ext cx="416052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figures/fig_5_1_test_sco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50976"/>
            <a:ext cx="3941064" cy="36941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02352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02352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102352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功能与异常测试项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949440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49440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49440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自动化测试类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8796528" y="932688"/>
            <a:ext cx="1463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796528" y="1051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796528" y="135331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E293B"/>
                </a:solidFill>
              </a:rPr>
              <a:t>自动化用例通过</a:t>
            </a:r>
            <a:endParaRPr lang="en-US" sz="7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2352" y="1993392"/>
          <a:ext cx="5623560" cy="2212848"/>
        </p:xfrm>
        <a:graphic>
          <a:graphicData uri="http://schemas.openxmlformats.org/drawingml/2006/table">
            <a:tbl>
              <a:tblPr/>
              <a:tblGrid>
                <a:gridCol w="1005840"/>
                <a:gridCol w="3182112"/>
                <a:gridCol w="658368"/>
                <a:gridCol w="777240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测试类别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覆盖内容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用例数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2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容器层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Compose 编排、容器启动、数据卷与健康检查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业务层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登录、上传、列表、预览、分享、回收站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访问控制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admin/demo 双用户隔离与分享边界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异常回归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非法路径、过期分享码、超大文件上传拒绝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8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530352" y="5074920"/>
            <a:ext cx="10195560" cy="640080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76656" y="5193792"/>
            <a:ext cx="9902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测试口径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76656" y="5513832"/>
            <a:ext cx="99029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项测试覆盖容器层、业务层、访问控制和异常回归；24 个自动化用例覆盖关键链路。这里不虚报性能指标、用户规模或覆盖率百分比。</a:t>
            </a:r>
            <a:endParaRPr lang="en-US" sz="820" dirty="0"/>
          </a:p>
        </p:txBody>
      </p:sp>
      <p:sp>
        <p:nvSpPr>
          <p:cNvPr id="23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系统运行界面一：登录与文件空间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14400"/>
            <a:ext cx="46177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41832"/>
            <a:ext cx="4562856" cy="1911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26080"/>
            <a:ext cx="4617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登录认证入口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504688" y="914400"/>
            <a:ext cx="50749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941832"/>
            <a:ext cx="5020056" cy="1911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2926080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文件列表与目录管理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530352" y="3364992"/>
            <a:ext cx="46177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1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784" y="3392424"/>
            <a:ext cx="4562856" cy="1453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" y="4919472"/>
            <a:ext cx="4617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普通用户文件空间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504688" y="3364992"/>
            <a:ext cx="507492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650992" y="3483864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运行说明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50992" y="3803904"/>
            <a:ext cx="47823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登录后进入文件管理页面，系统从后端读取目录结构、文件类型和创建时间等元数据。该页面是上传、预览、分享和回收站操作的基础入口。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530352" y="5285232"/>
            <a:ext cx="10058400" cy="38404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76656" y="5413248"/>
            <a:ext cx="9765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这一组截图用于证明系统具备真实登录入口和文件空间，不是静态页面展示。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系统运行界面二：预览与分享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877824"/>
            <a:ext cx="480060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05256"/>
            <a:ext cx="4745736" cy="19385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916936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文件预览界面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650992" y="877824"/>
            <a:ext cx="23317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2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78424" y="905256"/>
            <a:ext cx="2276856" cy="12710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2494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分享创建弹窗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8247888" y="877824"/>
            <a:ext cx="23317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2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75320" y="905256"/>
            <a:ext cx="2276856" cy="1271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47888" y="224942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分享访问页面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30352" y="3310128"/>
            <a:ext cx="480060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8" name="Image 3" descr="/Users/rexanyang/Desktop/bishe/graduatejob-main/docs/ppt/assets/docx_media/image3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7784" y="3337560"/>
            <a:ext cx="4745736" cy="1389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" y="4800600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预览链路调试与页面结果</a:t>
            </a:r>
            <a:endParaRPr lang="en-US" sz="720" dirty="0"/>
          </a:p>
        </p:txBody>
      </p:sp>
      <p:sp>
        <p:nvSpPr>
          <p:cNvPr id="20" name="Shape 14"/>
          <p:cNvSpPr/>
          <p:nvPr/>
        </p:nvSpPr>
        <p:spPr>
          <a:xfrm>
            <a:off x="5650992" y="3090672"/>
            <a:ext cx="4919472" cy="1097280"/>
          </a:xfrm>
          <a:prstGeom prst="rect">
            <a:avLst/>
          </a:prstGeom>
          <a:solidFill>
            <a:srgbClr val="F0F6FC"/>
          </a:solidFill>
          <a:ln w="10160">
            <a:solidFill>
              <a:srgbClr val="D8E4E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797296" y="3209544"/>
            <a:ext cx="4626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运行效果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797296" y="3529584"/>
            <a:ext cx="4626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分享弹窗生成链接和有效期，匿名访问页通过分享码打开内容；文件预览由统一接口返回，和签名校验、路径归一化逻辑对应。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650992" y="4663440"/>
            <a:ext cx="4919472" cy="38404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797296" y="4791456"/>
            <a:ext cx="4626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这一页证明系统完成“创建分享 → 校验分享 → 访问分享内容”的业务闭环。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4C82"/>
          </a:solidFill>
          <a:ln w="12700">
            <a:solidFill>
              <a:srgbClr val="0F4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0"/>
            <a:ext cx="12045391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55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系统运行界面三：统计与容器状态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442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4C8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182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测试、运行效果与总结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932688"/>
            <a:ext cx="48006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9" name="Image 0" descr="/Users/rexanyang/Desktop/bishe/graduatejob-main/docs/ppt/assets/docx_media/image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960120"/>
            <a:ext cx="4745736" cy="1636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670048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用户视角与统计验证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30352" y="3246120"/>
            <a:ext cx="48006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2" name="Image 1" descr="/Users/rexanyang/Desktop/bishe/graduatejob-main/docs/ppt/assets/docx_media/image2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3273552"/>
            <a:ext cx="4745736" cy="1636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" y="4983480"/>
            <a:ext cx="4800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文件列表与回收站相关视角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5650992" y="932688"/>
            <a:ext cx="4828032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5" name="Image 2" descr="/Users/rexanyang/Desktop/bishe/graduatejob-main/docs/ppt/assets/docx_media/image3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96712" y="978408"/>
            <a:ext cx="4736592" cy="1965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50992" y="3035808"/>
            <a:ext cx="4828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容器运行状态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5650992" y="3822192"/>
            <a:ext cx="482803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C5D6E8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pic>
        <p:nvPicPr>
          <p:cNvPr id="18" name="Image 3" descr="/Users/rexanyang/Desktop/bishe/graduatejob-main/docs/ppt/assets/docx_media/image2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78424" y="3849624"/>
            <a:ext cx="477316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50992" y="4489704"/>
            <a:ext cx="4828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终端测试结果片段</a:t>
            </a:r>
            <a:endParaRPr lang="en-US" sz="720" dirty="0"/>
          </a:p>
        </p:txBody>
      </p:sp>
      <p:sp>
        <p:nvSpPr>
          <p:cNvPr id="20" name="Shape 14"/>
          <p:cNvSpPr/>
          <p:nvPr/>
        </p:nvSpPr>
        <p:spPr>
          <a:xfrm>
            <a:off x="5650992" y="4828032"/>
            <a:ext cx="4828032" cy="658368"/>
          </a:xfrm>
          <a:prstGeom prst="rect">
            <a:avLst/>
          </a:prstGeom>
          <a:solidFill>
            <a:srgbClr val="0F4C82"/>
          </a:solidFill>
          <a:ln w="10160">
            <a:solidFill>
              <a:srgbClr val="0F4C82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797296" y="494690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运行结论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797296" y="5266944"/>
            <a:ext cx="45354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右侧终端截图说明 Nginx、后端、MySQL、Redis 按 Compose 编排启动；左侧页面说明统计与文件列表使用同一用户视角。</a:t>
            </a:r>
            <a:endParaRPr lang="en-US" sz="810" dirty="0"/>
          </a:p>
        </p:txBody>
      </p:sp>
      <p:sp>
        <p:nvSpPr>
          <p:cNvPr id="23" name="Text 17"/>
          <p:cNvSpPr/>
          <p:nvPr/>
        </p:nvSpPr>
        <p:spPr>
          <a:xfrm>
            <a:off x="438912" y="651967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基于容器化部署的云文件管理系统设计与实现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110185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A1B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2"/>
          </a:solidFill>
          <a:ln w="12700">
            <a:solidFill>
              <a:srgbClr val="0A2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8229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2344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2468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880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-320040"/>
            <a:ext cx="3840480" cy="1051560"/>
          </a:xfrm>
          <a:prstGeom prst="rect">
            <a:avLst/>
          </a:prstGeom>
          <a:solidFill>
            <a:srgbClr val="0F4C82">
              <a:alpha val="92000"/>
            </a:srgbClr>
          </a:solidFill>
          <a:ln w="12700">
            <a:solidFill>
              <a:srgbClr val="0F4C82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23960" y="530352"/>
            <a:ext cx="4023360" cy="457200"/>
          </a:xfrm>
          <a:prstGeom prst="rect">
            <a:avLst/>
          </a:prstGeom>
          <a:solidFill>
            <a:srgbClr val="2D6EA3">
              <a:alpha val="80000"/>
            </a:srgbClr>
          </a:solidFill>
          <a:ln w="12700">
            <a:solidFill>
              <a:srgbClr val="2D6EA3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868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400" dirty="0"/>
          </a:p>
        </p:txBody>
      </p:sp>
      <p:sp>
        <p:nvSpPr>
          <p:cNvPr id="53" name="Shape 51"/>
          <p:cNvSpPr/>
          <p:nvPr/>
        </p:nvSpPr>
        <p:spPr>
          <a:xfrm>
            <a:off x="960120" y="1847088"/>
            <a:ext cx="3063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106424" y="196596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容器化一键部署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06424" y="2286000"/>
            <a:ext cx="27706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编排 Nginx、后端、MySQL、Redis，降低演示环境差异。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1124712" y="1993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F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80560" y="1847088"/>
            <a:ext cx="3063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626864" y="196596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预览链路统一治理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4626864" y="2286000"/>
            <a:ext cx="27706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FilePreviewController 统一处理路径归一化、签名校验和越界检查。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4645152" y="1993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F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01000" y="1847088"/>
            <a:ext cx="3063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147304" y="196596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双用户视角隔离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147304" y="2286000"/>
            <a:ext cx="27706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CurrentUserService + user_id 过滤支撑 admin/demo 两类访问视角。</a:t>
            </a:r>
            <a:endParaRPr lang="en-US" sz="810" dirty="0"/>
          </a:p>
        </p:txBody>
      </p:sp>
      <p:sp>
        <p:nvSpPr>
          <p:cNvPr id="64" name="Text 62"/>
          <p:cNvSpPr/>
          <p:nvPr/>
        </p:nvSpPr>
        <p:spPr>
          <a:xfrm>
            <a:off x="8165592" y="1993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F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60120" y="3675888"/>
            <a:ext cx="10012680" cy="658368"/>
          </a:xfrm>
          <a:prstGeom prst="rect">
            <a:avLst/>
          </a:prstGeom>
          <a:solidFill>
            <a:srgbClr val="F0F6FC"/>
          </a:solidFill>
          <a:ln w="10160">
            <a:solidFill>
              <a:srgbClr val="F0F6FC"/>
            </a:solidFill>
            <a:prstDash val="solid"/>
          </a:ln>
          <a:effectLst>
            <a:outerShdw sx="100000" sy="100000" kx="0" ky="0" algn="bl" rotWithShape="0" blurRad="25400" dist="50800" dir="2700000">
              <a:srgbClr val="102A43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106424" y="3794760"/>
            <a:ext cx="9720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4C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06424" y="4114800"/>
            <a:ext cx="9720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权限模型较简单，存储仍以本地目录为主；后续可扩展团队空间、对象存储、分享策略、日志监控和预览缓存。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3337560" y="4864608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2700" dirty="0"/>
          </a:p>
        </p:txBody>
      </p:sp>
      <p:sp>
        <p:nvSpPr>
          <p:cNvPr id="69" name="Text 67"/>
          <p:cNvSpPr/>
          <p:nvPr/>
        </p:nvSpPr>
        <p:spPr>
          <a:xfrm>
            <a:off x="3913632" y="5394960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CD3E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FOR YOUR CRITICISM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566160" y="59893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DE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答辩学生：杨佳星    指导教师：王晓梅老师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西安邮电大学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基于容器化部署的云文件管理系统设计与实现</dc:title>
  <dc:subject>本科毕业论文答辩</dc:subject>
  <dc:creator>杨佳星</dc:creator>
  <cp:lastModifiedBy>杨佳星</cp:lastModifiedBy>
  <cp:revision>1</cp:revision>
  <dcterms:created xsi:type="dcterms:W3CDTF">2026-05-31T16:11:58Z</dcterms:created>
  <dcterms:modified xsi:type="dcterms:W3CDTF">2026-05-31T16:11:58Z</dcterms:modified>
</cp:coreProperties>
</file>