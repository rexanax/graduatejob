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各位老师好，我是网络工程 2203 班的杨佳星。我的毕业论文题目是《基于容器化部署的云文件管理系统设计与实现》。本课题面向本科毕业设计场景，完成了一套可以运行、可以部署、可以演示的轻量级云文件管理系统。汇报中我会重点说明系统为什么要做、怎么设计、如何通过 Docker Compose 编排运行，以及最终实现了哪些核心功能和运行效果。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分为四个部分。第一部分说明选题背景和课题目标，第二部分说明系统设计和容器化部署，第三部分说明文件管理、预览分享、用户隔离与回收站等核心实现，第四部分说明测试验证、系统运行界面和总结展望。整体汇报不会把系统包装成企业级云盘，而是按照本科毕业设计的真实实现范围进行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题的背景来自学习和课程设计中的文件管理需求。文件数量增多后，单纯依赖本地目录容易出现文件分散、版本混乱和预览不便。另一方面，毕业设计系统在答辩时还要面对部署环境变化，比如数据库初始化、缓存、静态资源路径和文件目录权限等问题。基于这些问题，我把课题定位为通过容器化方式支撑一个轻量级云文件管理系统，让系统能够在统一环境中快速启动和稳定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本系统的目标可以概括为两个方面：一是完成文件管理业务闭环，包括登录、上传、目录管理、下载预览、分享访问、回收站和存储统计；二是完成容器化部署闭环，把 Nginx、后端服务、MySQL 和 Redis 统一到 Docker Compose 编排中。技术路线采用 Vue 3 和 Element Plus 构建前端，Spring Boot 和 MyBatis-Plus 构建后端，MySQL 保存业务元数据，Redis 保存临时状态，最终通过 Nginx 对外提供统一入口。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系统总体采用前后端分离的 B/S 架构。浏览器首先访问 Nginx，Nginx 一方面返回前端静态页面，另一方面把 /api 请求转发给后端。后端负责用户认证、文件管理、分享、回收站、统计和预览访问控制。MySQL 用于保存用户、文件、分享和回收站等元数据，Redis 用于保存短生命周期状态，本地持久化目录保存真实上传文件。这样系统各层职责比较清晰，便于部署和排查问题。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这一页展示容器化部署流程。执行 docker compose up -d --build 后，Compose 会构建后端镜像，创建内部网络和数据卷，然后启动 MySQL 与 Redis。MySQL 健康检查通过后，后端服务再启动，并执行数据库兼容补丁，例如补齐 user_id 字段、索引和 demo 演示账号。最后 Nginx 作为统一入口提供前端访问和接口代理。这个流程的意义是降低环境差异，方便答辩现场恢复系统运行状态。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容器编排关系是本课题的一个重点。系统中 lfs-nginx 对外暴露 80 端口，负责静态资源和反向代理；lfs-backend 运行 Spring Boot 业务接口；lfs-mysql 保存业务数据；lfs-redis 保存上传分片状态和转码进度等临时信息；上传文件目录通过数据卷持久化。文件上传、下载、预览、分享、回收站和统计功能都依赖这些容器之间的协作，而不是某一个单独页面完成。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文件管理模块主要负责上传、列表、目录、重命名、移动和删除。上传时，系统既要把物理文件保存到持久化目录，也要在 lfs_file 表中写入文件名、大小、类型、父目录和用户归属等元数据。目录记录同样存储在文件表中，通过 is_dir 字段区分。移动文件主要更新 parent_id，删除操作会进入回收站，而不是立即物理删除。这样前端页面操作、数据库元数据和文件目录能够保持一致。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预览与分享模块主要解决访问链路和边界控制问题。系统将 /api/files、/api/thum 和 /api/trans 三类预览路径统一交给 FilePreviewController 处理，控制器负责路径归一化、secret 与 expire 签名校验、路径越界检查和响应头设置。分享模块采用分享码加有效期的方式，访问分享页不需要登录，但仍然保持轻量匿名访问边界，不扩展为复杂协作权限系统。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用户隔离采用 admin 和 demo 两类账号。admin 是管理员视角，可以查看全量文件数据；demo 是普通演示用户，只能查看自己的文件空间。这个隔离不是单纯依赖前端隐藏按钮，而是后端通过 CurrentUserService 识别当前用户，再在文件列表、回收站和统计查询中追加 user_id 条件。数据库设计里的 lfs_file.user_id 字段被放在这里说明，因为它服务于用户隔离和统计视角，而不是单独作为一页展示。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测试部分覆盖容器层、业务层、访问控制层和异常回归层。论文中整理了 T1 到 T17 的测试项，包括容器启动、数据库兼容补丁、登录、上传、预览、分享、回收站、双用户隔离和非法访问拒绝等。自动化测试包括五个测试类，共 24 个用例，覆盖当前用户识别、兼容补丁、分享服务、存储统计和预览控制器。测试目标是验证关键链路稳定，而不是包装成没有数据支撑的性能评测。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这一页展示第一组真实运行界面，包括登录入口、文件空间和文件列表。登录后用户进入文件管理页面，可以看到目录结构、文件列表、文件类型、时间等信息。这里展示的是系统作为一个可运行 Web 应用的基础状态，也为后面的上传、预览、分享和回收站操作提供入口。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第二组运行界面，重点是预览和分享。文件预览可以通过统一路径正常返回，分享弹窗可以生成分享链接和有效期，匿名访问页能够打开分享内容。这里对应前面讲到的预览访问链路和分享码机制，说明系统不仅有页面，而且完成了从创建分享到访问分享的业务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这一页展示第三组运行界面，重点是用户视角、统计信息和容器运行状态。文件列表、回收站和统计按照当前用户视角展示，避免出现列表不可见但统计仍然计入的问题。右侧终端截图展示 Docker Compose 相关容器处于运行状态，说明前端入口、后端、MySQL 和 Redis 能够按编排协同启动。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最后进行总结。本课题完成了云文件管理系统的总体架构设计，实现了登录认证、文件上传、目录管理、在线预览、分享访问、回收站、存储统计和容器化部署；通过 user_id 和 CurrentUserService 实现轻量用户隔离；通过路径归一化和签名校验统一预览链路；并通过功能测试、异常测试和自动化测试完成验证。不足之处是权限模型仍比较简单，存储以本地目录为主，监控运维能力也较基础。后续可以继续扩展团队空间、对象存储、分享策略和日志监控。我的汇报到此结束，感谢各位老师，敬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42"/>
          </a:solidFill>
          <a:ln w="12700">
            <a:solidFill>
              <a:srgbClr val="0A24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09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8229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-320040"/>
            <a:ext cx="3840480" cy="1051560"/>
          </a:xfrm>
          <a:prstGeom prst="rect">
            <a:avLst/>
          </a:prstGeom>
          <a:solidFill>
            <a:srgbClr val="0F4C82">
              <a:alpha val="92000"/>
            </a:srgbClr>
          </a:solidFill>
          <a:ln w="12700">
            <a:solidFill>
              <a:srgbClr val="0F4C82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23960" y="530352"/>
            <a:ext cx="4023360" cy="457200"/>
          </a:xfrm>
          <a:prstGeom prst="rect">
            <a:avLst/>
          </a:prstGeom>
          <a:solidFill>
            <a:srgbClr val="2D6EA3">
              <a:alpha val="80000"/>
            </a:srgbClr>
          </a:solidFill>
          <a:ln w="12700">
            <a:solidFill>
              <a:srgbClr val="2D6EA3">
                <a:alpha val="0"/>
              </a:srgbClr>
            </a:solidFill>
            <a:prstDash val="solid"/>
          </a:ln>
        </p:spPr>
      </p:sp>
      <p:pic>
        <p:nvPicPr>
          <p:cNvPr id="52" name="Image 0" descr="/Users/rexanyang/Desktop/bishe/graduatejob-main/docs/ppt/assets/docx_media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10912" y="658368"/>
            <a:ext cx="2157984" cy="438912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4828032" y="1444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BD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本科毕业论文答辩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93392" y="2084832"/>
            <a:ext cx="8211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3000" dirty="0"/>
          </a:p>
        </p:txBody>
      </p:sp>
      <p:sp>
        <p:nvSpPr>
          <p:cNvPr id="55" name="Text 52"/>
          <p:cNvSpPr/>
          <p:nvPr/>
        </p:nvSpPr>
        <p:spPr>
          <a:xfrm>
            <a:off x="2743200" y="2788920"/>
            <a:ext cx="6702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File Management System Based on Containerized Deployment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3767328" y="3364992"/>
            <a:ext cx="4645152" cy="9144"/>
          </a:xfrm>
          <a:prstGeom prst="rect">
            <a:avLst/>
          </a:prstGeom>
          <a:solidFill>
            <a:srgbClr val="A7CBE8">
              <a:alpha val="80000"/>
            </a:srgbClr>
          </a:solidFill>
          <a:ln w="12700">
            <a:solidFill>
              <a:srgbClr val="A7CBE8">
                <a:alpha val="8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255264" y="388620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7F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答辩学生：杨佳星    指导教师：王晓梅老师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3584448" y="4224528"/>
            <a:ext cx="5010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2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计算机学院 · 网络工程 2203 · 学号 04222088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444752" y="2286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F4C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681728" y="9784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40680" y="914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选题背景与研究目标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40680" y="1261872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背景意义、课题定位、完成范围与技术路线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681728" y="205740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40680" y="1993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系统设计与容器化部署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340864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总体架构、部署流程、容器编排关系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681728" y="31363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40680" y="30723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3419856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文件管理、预览分享、用户隔离与回收站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681728" y="42153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40680" y="4151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449884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测试验证、系统界面展示、总结展望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选题背景与目标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41248"/>
            <a:ext cx="4800600" cy="4041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3_2_network_a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987552"/>
            <a:ext cx="4507992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50992" y="914400"/>
            <a:ext cx="52852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97296" y="103327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现实需求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97296" y="135331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学习资料、课程设计、项目文档持续增多，文件管理需要上传、共享、预览和归档能力。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50992" y="1947672"/>
            <a:ext cx="52852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97296" y="2066544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部署痛点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797296" y="2386584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Web 系统依赖本机环境、数据库初始化、路径权限和静态资源配置，迁移演示成本较高。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50992" y="2980944"/>
            <a:ext cx="52852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97296" y="3099816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课题价值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797296" y="3419856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通过容器化编排把前端、后端、数据库、缓存和代理统一起来，提升复现和演示稳定性。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0352" y="5230368"/>
            <a:ext cx="10405872" cy="566928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6656" y="5349240"/>
            <a:ext cx="10113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课题定位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6656" y="5669280"/>
            <a:ext cx="101132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A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面向本科毕业设计场景，聚焦可运行、可部署、可演示、可验证的轻量级云文件管理系统。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研究目标与技术路线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选题背景与目标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68680"/>
            <a:ext cx="3767328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" y="987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完成的功能范围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59105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登录认证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59105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41248" y="2139696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24942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468880" y="2139696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24942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下载预览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41248" y="2798064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90779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分享访问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468880" y="2798064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90779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回收站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41248" y="3456432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56616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存储统计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468880" y="3456432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56616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容器部署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30352" y="5029200"/>
            <a:ext cx="3767328" cy="694944"/>
          </a:xfrm>
          <a:prstGeom prst="rect">
            <a:avLst/>
          </a:prstGeom>
          <a:solidFill>
            <a:srgbClr val="FFF6E8"/>
          </a:solidFill>
          <a:ln w="10160">
            <a:solidFill>
              <a:srgbClr val="F0D4A5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656" y="51480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不扩展范围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" y="5468112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不包装为企业级多租户平台，不引入完整 RBAC、审批流或大规模分布式存储。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681728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828032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确定业务闭环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797296" y="14904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181344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划分系统层次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7150608" y="14904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88352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4656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7534656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文件/预览/分享</a:t>
            </a:r>
            <a:endParaRPr lang="en-US" sz="660" dirty="0"/>
          </a:p>
        </p:txBody>
      </p:sp>
      <p:sp>
        <p:nvSpPr>
          <p:cNvPr id="40" name="Text 38"/>
          <p:cNvSpPr/>
          <p:nvPr/>
        </p:nvSpPr>
        <p:spPr>
          <a:xfrm>
            <a:off x="8503920" y="14904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741664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87968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容器部署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887968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Compose 编排</a:t>
            </a:r>
            <a:endParaRPr lang="en-US" sz="660" dirty="0"/>
          </a:p>
        </p:txBody>
      </p:sp>
      <p:sp>
        <p:nvSpPr>
          <p:cNvPr id="44" name="Text 42"/>
          <p:cNvSpPr/>
          <p:nvPr/>
        </p:nvSpPr>
        <p:spPr>
          <a:xfrm>
            <a:off x="9857232" y="14904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094976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0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0241280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功能与异常测试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4663440" y="2816352"/>
            <a:ext cx="6364224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09744" y="2935224"/>
            <a:ext cx="607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技术栈组合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956048" y="32735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2"/>
                </a:solidFill>
              </a:rPr>
              <a:t>前端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87568" y="327355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Vue 3 / Element Plus / Vite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56048" y="362102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2"/>
                </a:solidFill>
              </a:rPr>
              <a:t>后端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87568" y="362102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Spring Boot 3.2.2 / MyBatis-Plus / JWT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56048" y="39684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2"/>
                </a:solidFill>
              </a:rPr>
              <a:t>数据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87568" y="396849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MySQL 8 / Redis 7 / 本地持久化目录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56048" y="431596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2"/>
                </a:solidFill>
              </a:rPr>
              <a:t>部署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87568" y="431596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Nginx / Docker / Docker Compose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系统总体设计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系统设计与容器化部署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07408" y="804672"/>
            <a:ext cx="6537960" cy="48280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3_1_system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17136" y="914400"/>
            <a:ext cx="6318504" cy="46085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0352" y="914400"/>
            <a:ext cx="3456432" cy="713232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" y="103327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6656" y="135331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页面、文件列表、分享访问、预览界面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530352" y="1874520"/>
            <a:ext cx="345643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" y="199339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6656" y="231343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认证、文件、分享、回收站、统计与预览接口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530352" y="2834640"/>
            <a:ext cx="3456432" cy="713232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6656" y="295351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数据与资源层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76656" y="327355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元数据、Redis 临时状态、本地文件目录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530352" y="3794760"/>
            <a:ext cx="345643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6656" y="391363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部署与代理层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6656" y="423367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统一入口，Compose 编排核心容器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530352" y="5193792"/>
            <a:ext cx="3456432" cy="438912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6656" y="532180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访问链路：浏览器 -&gt; Nginx -&gt; Spring Boot -&gt; MySQL / Redis / 文件目录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容器化部署流程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系统设计与容器化部署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up -d --build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249424" y="14081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1576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6207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创建资源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6207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内部网络、数据卷、镜像构建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398264" y="14081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6460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091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基础服务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1091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与 Redis 启动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547104" y="14081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1344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975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后端启动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5975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健康检查后执行兼容补丁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8695944" y="14081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6228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0859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0859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代理前端与接口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66928" y="2761488"/>
            <a:ext cx="2852928" cy="120700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" y="2880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持久化设计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13232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数据、Redis 状态和上传文件目录通过数据卷挂载，避免容器重建后业务数据丢失。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0" y="2761488"/>
            <a:ext cx="2852928" cy="120700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03904" y="2880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启动依赖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803904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后端依赖 MySQL 健康检查结果，启动后自动补齐字段、索引和 demo 演示账号。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48272" y="2761488"/>
            <a:ext cx="2852928" cy="120700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94576" y="2880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访问入口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94576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浏览器只需要访问 Nginx 入口，由 Nginx 统一处理前端静态资源和 /api 代理。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" y="4389120"/>
            <a:ext cx="9985248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37" name="Image 0" descr="/Users/rexanyang/Desktop/bishe/graduatejob-main/docs/ppt/assets/docx_media/image3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4434840"/>
            <a:ext cx="9893808" cy="9144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66928" y="5440680"/>
            <a:ext cx="9985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真实运行截图：Docker Compose 启动与容器状态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容器编排关系与功能支撑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系统设计与容器化部署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25696" y="932688"/>
            <a:ext cx="2011680" cy="749808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0515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lfs-nginx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3716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EA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 / 反向代理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25696" y="2267712"/>
            <a:ext cx="2011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38658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7066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业务接口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43000" y="3712464"/>
            <a:ext cx="1901952" cy="74980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9304" y="38313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lfs-mysql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9304" y="41513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用户、文件、分享、回收站元数据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498848" y="3712464"/>
            <a:ext cx="1901952" cy="74980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8313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lfs-redis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41513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上传分片与转码进度状态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699248" y="3712464"/>
            <a:ext cx="1901952" cy="74980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45552" y="38313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45552" y="41513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上传文件与数据库持久化目录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553712" y="4754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2"/>
                </a:solidFill>
              </a:rPr>
              <a:t>Browser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0" y="65836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2"/>
                </a:solidFill>
              </a:rPr>
              <a:t>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182880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2"/>
                </a:solidFill>
              </a:rPr>
              <a:t>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33467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数据读写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3172968" y="349300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</a:rPr>
              <a:t>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47488" y="33467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临时状态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5385816" y="349300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</a:rPr>
              <a:t>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93024" y="33467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文件读写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8531352" y="3493008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193792"/>
            <a:ext cx="9930384" cy="530352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" y="5312664"/>
            <a:ext cx="963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功能支撑关系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4944" y="5632704"/>
            <a:ext cx="9637776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上传/下载依赖后端与文件卷，预览依赖 Nginx 代理和签名校验，分享依赖 MySQL 元数据，回收站与统计依赖 user_id 查询过滤。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核心功能实现一：文件管理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04672"/>
            <a:ext cx="5358384" cy="3858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4_3_upload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14400"/>
            <a:ext cx="5138928" cy="36393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9632" y="932688"/>
            <a:ext cx="4407408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1" name="Image 1" descr="/Users/rexanyang/Desktop/bishe/graduatejob-main/docs/ppt/assets/docx_media/image1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27064" y="960120"/>
            <a:ext cx="4352544" cy="22311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99632" y="3264408"/>
            <a:ext cx="44074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真实系统截图：文件列表与目录管理</a:t>
            </a:r>
            <a:endParaRPr lang="en-US" sz="720" dirty="0"/>
          </a:p>
        </p:txBody>
      </p:sp>
      <p:sp>
        <p:nvSpPr>
          <p:cNvPr id="13" name="Shape 9"/>
          <p:cNvSpPr/>
          <p:nvPr/>
        </p:nvSpPr>
        <p:spPr>
          <a:xfrm>
            <a:off x="6199632" y="3767328"/>
            <a:ext cx="4407408" cy="93268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345936" y="38862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实现要点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45936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上传时同步保存物理文件与 lfs_file 元数据；目录通过 is_dir 记录构建；移动主要更新 parent_id。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713232" y="5193792"/>
            <a:ext cx="73152" cy="73152"/>
          </a:xfrm>
          <a:prstGeom prst="rect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77824" y="517550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上传、下载、重命名、移动和删除形成基础文件管理链路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713232" y="5596128"/>
            <a:ext cx="73152" cy="73152"/>
          </a:xfrm>
          <a:prstGeom prst="rect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77824" y="55778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回收站删除保留恢复空间，避免误删后立即清理物理文件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核心功能实现二：预览与分享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22960"/>
            <a:ext cx="5413248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4_8_preview_ch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32688"/>
            <a:ext cx="5193792" cy="32186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9632" y="877824"/>
            <a:ext cx="44348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1" name="Image 1" descr="/Users/rexanyang/Desktop/bishe/graduatejob-main/docs/ppt/assets/docx_media/image1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27064" y="905256"/>
            <a:ext cx="4379976" cy="1362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99632" y="2340864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文件预览返回正常</a:t>
            </a:r>
            <a:endParaRPr lang="en-US" sz="720" dirty="0"/>
          </a:p>
        </p:txBody>
      </p:sp>
      <p:sp>
        <p:nvSpPr>
          <p:cNvPr id="13" name="Shape 9"/>
          <p:cNvSpPr/>
          <p:nvPr/>
        </p:nvSpPr>
        <p:spPr>
          <a:xfrm>
            <a:off x="6199632" y="2615184"/>
            <a:ext cx="208483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4" name="Image 2" descr="/Users/rexanyang/Desktop/bishe/graduatejob-main/docs/ppt/assets/docx_media/image2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27064" y="2642616"/>
            <a:ext cx="2029968" cy="11155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9632" y="38313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分享创建</a:t>
            </a:r>
            <a:endParaRPr lang="en-US" sz="720" dirty="0"/>
          </a:p>
        </p:txBody>
      </p:sp>
      <p:sp>
        <p:nvSpPr>
          <p:cNvPr id="16" name="Shape 11"/>
          <p:cNvSpPr/>
          <p:nvPr/>
        </p:nvSpPr>
        <p:spPr>
          <a:xfrm>
            <a:off x="8549640" y="2615184"/>
            <a:ext cx="208483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7" name="Image 3" descr="/Users/rexanyang/Desktop/bishe/graduatejob-main/docs/ppt/assets/docx_media/image2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77072" y="2642616"/>
            <a:ext cx="2029968" cy="11155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49640" y="38313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分享访问</a:t>
            </a:r>
            <a:endParaRPr lang="en-US" sz="720" dirty="0"/>
          </a:p>
        </p:txBody>
      </p:sp>
      <p:sp>
        <p:nvSpPr>
          <p:cNvPr id="19" name="Shape 13"/>
          <p:cNvSpPr/>
          <p:nvPr/>
        </p:nvSpPr>
        <p:spPr>
          <a:xfrm>
            <a:off x="530352" y="4882896"/>
            <a:ext cx="5413248" cy="731520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76656" y="50017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预览控制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76656" y="532180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统一处理 /api/files、/api/thum、/api/trans，完成路径归一化、签名校验和越界检查。</a:t>
            </a:r>
            <a:endParaRPr lang="en-US" sz="840" dirty="0"/>
          </a:p>
        </p:txBody>
      </p:sp>
      <p:sp>
        <p:nvSpPr>
          <p:cNvPr id="22" name="Shape 16"/>
          <p:cNvSpPr/>
          <p:nvPr/>
        </p:nvSpPr>
        <p:spPr>
          <a:xfrm>
            <a:off x="6199632" y="4882896"/>
            <a:ext cx="4434840" cy="731520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345936" y="5001768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分享边界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345936" y="5321808"/>
            <a:ext cx="4142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采用“分享码 + 有效期 + 匿名访问”，不扩展为复杂协作权限系统。</a:t>
            </a:r>
            <a:endParaRPr lang="en-US" sz="840" dirty="0"/>
          </a:p>
        </p:txBody>
      </p:sp>
      <p:sp>
        <p:nvSpPr>
          <p:cNvPr id="25" name="Text 19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核心功能实现三：用户隔离、回收站与统计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914400"/>
            <a:ext cx="3236976" cy="93268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" y="103327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管理员视角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135331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可查看和管理全量文件数据，用于展示系统完整数据。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30352" y="2157984"/>
            <a:ext cx="3236976" cy="93268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" y="227685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普通用户视角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" y="259689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查询时追加 user_id = currentUserId，仅命中自身文件空间。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30352" y="3401568"/>
            <a:ext cx="3236976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" y="352044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统一统计视角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6656" y="3840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文件列表、回收站和存储统计共享同一用户视角。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13232" y="4828032"/>
            <a:ext cx="1572768" cy="256032"/>
          </a:xfrm>
          <a:prstGeom prst="roundRect">
            <a:avLst/>
          </a:prstGeom>
          <a:solidFill>
            <a:srgbClr val="E9F4FC"/>
          </a:solidFill>
          <a:ln w="5715">
            <a:solidFill>
              <a:srgbClr val="D2E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88289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CurrentUserService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2423160" y="4828032"/>
            <a:ext cx="1389888" cy="256032"/>
          </a:xfrm>
          <a:prstGeom prst="roundRect">
            <a:avLst/>
          </a:prstGeom>
          <a:solidFill>
            <a:srgbClr val="E9F4FC"/>
          </a:solidFill>
          <a:ln w="5715">
            <a:solidFill>
              <a:srgbClr val="D2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8024" y="48828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lfs_file.user_id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4160520" y="914400"/>
            <a:ext cx="3090672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22" name="Image 0" descr="/Users/rexanyang/Desktop/bishe/graduatejob-main/docs/ppt/assets/docx_media/image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87952" y="941832"/>
            <a:ext cx="3035808" cy="1362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160520" y="2377440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用户文件空间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7498080" y="914400"/>
            <a:ext cx="3090672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25" name="Image 1" descr="/Users/rexanyang/Desktop/bishe/graduatejob-main/docs/ppt/assets/docx_media/image2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25512" y="941832"/>
            <a:ext cx="3035808" cy="1362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0" y="2377440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统计/视角验证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4160520" y="3127248"/>
            <a:ext cx="642823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28" name="Image 2" descr="/Users/rexanyang/Desktop/bishe/graduatejob-main/docs/ppt/assets/docx_media/image2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87952" y="3154680"/>
            <a:ext cx="6373368" cy="154533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160520" y="4773168"/>
            <a:ext cx="6428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真实系统截图：文件列表与用户视角</a:t>
            </a:r>
            <a:endParaRPr lang="en-US" sz="720" dirty="0"/>
          </a:p>
        </p:txBody>
      </p:sp>
      <p:sp>
        <p:nvSpPr>
          <p:cNvPr id="30" name="Text 25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系统测试与验证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41248"/>
            <a:ext cx="416052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5_1_test_sco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50976"/>
            <a:ext cx="3941064" cy="39867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02352" y="932688"/>
            <a:ext cx="1463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02352" y="1051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102352" y="135331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E293B"/>
                </a:solidFill>
              </a:rPr>
              <a:t>测试项 (T1-T17)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6949440" y="932688"/>
            <a:ext cx="1463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49440" y="1051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949440" y="135331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E293B"/>
                </a:solidFill>
              </a:rPr>
              <a:t>JUnit 自动化测试类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8796528" y="932688"/>
            <a:ext cx="1463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796528" y="1051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796528" y="135331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E293B"/>
                </a:solidFill>
              </a:rPr>
              <a:t>自动化用例全部通过</a:t>
            </a:r>
            <a:endParaRPr lang="en-US" sz="72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02352" y="2148840"/>
          <a:ext cx="5623560" cy="2331720"/>
        </p:xfrm>
        <a:graphic>
          <a:graphicData uri="http://schemas.openxmlformats.org/drawingml/2006/table">
            <a:tbl>
              <a:tblPr/>
              <a:tblGrid>
                <a:gridCol w="1143000"/>
                <a:gridCol w="3621024"/>
                <a:gridCol w="859536"/>
              </a:tblGrid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测试类别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覆盖内容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Compose 编排、容器启动、数据卷与健康检查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登录、上传、列表、预览、分享、回收站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访问控制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admin/demo 双用户隔离与分享边界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异常回归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非法路径、过期分享码、超大文件上传拒绝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5102352" y="4882896"/>
            <a:ext cx="5623560" cy="530352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248656" y="5001768"/>
            <a:ext cx="5330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测试口径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248656" y="5321808"/>
            <a:ext cx="5330952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验证关键链路稳定，不编造论文中没有给出的性能指标、用户规模或部署规模。</a:t>
            </a:r>
            <a:endParaRPr lang="en-US" sz="830" dirty="0"/>
          </a:p>
        </p:txBody>
      </p:sp>
      <p:sp>
        <p:nvSpPr>
          <p:cNvPr id="23" name="Text 19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系统运行界面一：登录与文件空间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914400"/>
            <a:ext cx="461772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docx_media/image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941832"/>
            <a:ext cx="4562856" cy="1911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926080"/>
            <a:ext cx="4617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登录认证入口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5504688" y="914400"/>
            <a:ext cx="507492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2" name="Image 1" descr="/Users/rexanyang/Desktop/bishe/graduatejob-main/docs/ppt/assets/docx_media/image1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941832"/>
            <a:ext cx="5020056" cy="19110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2926080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文件列表与目录管理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530352" y="3529584"/>
            <a:ext cx="461772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5" name="Image 2" descr="/Users/rexanyang/Desktop/bishe/graduatejob-main/docs/ppt/assets/docx_media/image1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7784" y="3557016"/>
            <a:ext cx="4562856" cy="1636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" y="5266944"/>
            <a:ext cx="4617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普通用户文件空间</a:t>
            </a:r>
            <a:endParaRPr lang="en-US" sz="720" dirty="0"/>
          </a:p>
        </p:txBody>
      </p:sp>
      <p:sp>
        <p:nvSpPr>
          <p:cNvPr id="17" name="Shape 12"/>
          <p:cNvSpPr/>
          <p:nvPr/>
        </p:nvSpPr>
        <p:spPr>
          <a:xfrm>
            <a:off x="5504688" y="3529584"/>
            <a:ext cx="507492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650992" y="3648456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界面说明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50992" y="3968496"/>
            <a:ext cx="47823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登录后进入文件管理页面，可查看目录结构、文件类型、创建时间和基本操作入口，为上传、预览、分享和回收站提供基础入口。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系统运行界面二：预览与分享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77824"/>
            <a:ext cx="480060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docx_media/image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905256"/>
            <a:ext cx="4745736" cy="19385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916936"/>
            <a:ext cx="4800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文件预览界面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5650992" y="877824"/>
            <a:ext cx="23317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2" name="Image 1" descr="/Users/rexanyang/Desktop/bishe/graduatejob-main/docs/ppt/assets/docx_media/image2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78424" y="905256"/>
            <a:ext cx="2276856" cy="12710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224942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分享创建弹窗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8247888" y="877824"/>
            <a:ext cx="23317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5" name="Image 2" descr="/Users/rexanyang/Desktop/bishe/graduatejob-main/docs/ppt/assets/docx_media/image2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75320" y="905256"/>
            <a:ext cx="2276856" cy="12710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47888" y="224942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分享访问页面</a:t>
            </a:r>
            <a:endParaRPr lang="en-US" sz="720" dirty="0"/>
          </a:p>
        </p:txBody>
      </p:sp>
      <p:sp>
        <p:nvSpPr>
          <p:cNvPr id="17" name="Shape 12"/>
          <p:cNvSpPr/>
          <p:nvPr/>
        </p:nvSpPr>
        <p:spPr>
          <a:xfrm>
            <a:off x="530352" y="3474720"/>
            <a:ext cx="48006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8" name="Image 3" descr="/Users/rexanyang/Desktop/bishe/graduatejob-main/docs/ppt/assets/docx_media/image3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7784" y="3502152"/>
            <a:ext cx="4745736" cy="1545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" y="5120640"/>
            <a:ext cx="4800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预览链路调试与页面结果</a:t>
            </a:r>
            <a:endParaRPr lang="en-US" sz="720" dirty="0"/>
          </a:p>
        </p:txBody>
      </p:sp>
      <p:sp>
        <p:nvSpPr>
          <p:cNvPr id="20" name="Shape 14"/>
          <p:cNvSpPr/>
          <p:nvPr/>
        </p:nvSpPr>
        <p:spPr>
          <a:xfrm>
            <a:off x="5650992" y="3090672"/>
            <a:ext cx="4919472" cy="102412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797296" y="3209544"/>
            <a:ext cx="4626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运行效果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797296" y="3529584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预览、分享创建和匿名访问能够形成闭环，和前面介绍的签名校验、路径归一化与有效期控制相对应。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779008" y="4645152"/>
            <a:ext cx="73152" cy="73152"/>
          </a:xfrm>
          <a:prstGeom prst="rect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943600" y="462686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 AI 重绘真实截图，只做裁剪、标注和版式整理</a:t>
            </a:r>
            <a:endParaRPr lang="en-US" sz="810" dirty="0"/>
          </a:p>
        </p:txBody>
      </p:sp>
      <p:sp>
        <p:nvSpPr>
          <p:cNvPr id="25" name="Shape 19"/>
          <p:cNvSpPr/>
          <p:nvPr/>
        </p:nvSpPr>
        <p:spPr>
          <a:xfrm>
            <a:off x="5779008" y="5047488"/>
            <a:ext cx="73152" cy="73152"/>
          </a:xfrm>
          <a:prstGeom prst="rect">
            <a:avLst/>
          </a:prstGeom>
          <a:solidFill>
            <a:srgbClr val="2A9FD6"/>
          </a:solidFill>
          <a:ln w="12700">
            <a:solidFill>
              <a:srgbClr val="2A9FD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43600" y="50292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截图用于证明系统页面、访问路径和操作结果已经连通</a:t>
            </a:r>
            <a:endParaRPr lang="en-US" sz="810" dirty="0"/>
          </a:p>
        </p:txBody>
      </p:sp>
      <p:sp>
        <p:nvSpPr>
          <p:cNvPr id="27" name="Text 21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系统运行界面三：统计与容器状态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932688"/>
            <a:ext cx="48006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docx_media/image2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960120"/>
            <a:ext cx="4745736" cy="1636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670048"/>
            <a:ext cx="4800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用户视角与统计验证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530352" y="3246120"/>
            <a:ext cx="48006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2" name="Image 1" descr="/Users/rexanyang/Desktop/bishe/graduatejob-main/docs/ppt/assets/docx_media/image2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3273552"/>
            <a:ext cx="4745736" cy="1636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" y="4983480"/>
            <a:ext cx="4800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文件列表与回收站相关视角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5650992" y="932688"/>
            <a:ext cx="4828032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5" name="Image 2" descr="/Users/rexanyang/Desktop/bishe/graduatejob-main/docs/ppt/assets/docx_media/image3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96712" y="978408"/>
            <a:ext cx="4736592" cy="21488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50992" y="3218688"/>
            <a:ext cx="4828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容器运行状态</a:t>
            </a:r>
            <a:endParaRPr lang="en-US" sz="720" dirty="0"/>
          </a:p>
        </p:txBody>
      </p:sp>
      <p:sp>
        <p:nvSpPr>
          <p:cNvPr id="17" name="Shape 12"/>
          <p:cNvSpPr/>
          <p:nvPr/>
        </p:nvSpPr>
        <p:spPr>
          <a:xfrm>
            <a:off x="5650992" y="3822192"/>
            <a:ext cx="482803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8" name="Image 3" descr="/Users/rexanyang/Desktop/bishe/graduatejob-main/docs/ppt/assets/docx_media/image2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78424" y="3849624"/>
            <a:ext cx="477316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50992" y="4489704"/>
            <a:ext cx="4828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终端测试结果片段</a:t>
            </a:r>
            <a:endParaRPr lang="en-US" sz="720" dirty="0"/>
          </a:p>
        </p:txBody>
      </p:sp>
      <p:sp>
        <p:nvSpPr>
          <p:cNvPr id="20" name="Shape 14"/>
          <p:cNvSpPr/>
          <p:nvPr/>
        </p:nvSpPr>
        <p:spPr>
          <a:xfrm>
            <a:off x="5650992" y="4992624"/>
            <a:ext cx="4828032" cy="457200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797296" y="5120640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运行层面完成前端入口、后端服务、MySQL、Redis 与本地文件目录的协同启动。</a:t>
            </a:r>
            <a:endParaRPr lang="en-US" sz="820" dirty="0"/>
          </a:p>
        </p:txBody>
      </p:sp>
      <p:sp>
        <p:nvSpPr>
          <p:cNvPr id="22" name="Text 16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42"/>
          </a:solidFill>
          <a:ln w="12700">
            <a:solidFill>
              <a:srgbClr val="0A24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09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8229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-320040"/>
            <a:ext cx="3840480" cy="1051560"/>
          </a:xfrm>
          <a:prstGeom prst="rect">
            <a:avLst/>
          </a:prstGeom>
          <a:solidFill>
            <a:srgbClr val="0F4C82">
              <a:alpha val="92000"/>
            </a:srgbClr>
          </a:solidFill>
          <a:ln w="12700">
            <a:solidFill>
              <a:srgbClr val="0F4C82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23960" y="530352"/>
            <a:ext cx="4023360" cy="457200"/>
          </a:xfrm>
          <a:prstGeom prst="rect">
            <a:avLst/>
          </a:prstGeom>
          <a:solidFill>
            <a:srgbClr val="2D6EA3">
              <a:alpha val="80000"/>
            </a:srgbClr>
          </a:solidFill>
          <a:ln w="12700">
            <a:solidFill>
              <a:srgbClr val="2D6EA3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94760" y="868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400" dirty="0"/>
          </a:p>
        </p:txBody>
      </p:sp>
      <p:sp>
        <p:nvSpPr>
          <p:cNvPr id="53" name="Shape 51"/>
          <p:cNvSpPr/>
          <p:nvPr/>
        </p:nvSpPr>
        <p:spPr>
          <a:xfrm>
            <a:off x="1078992" y="1874520"/>
            <a:ext cx="461772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225296" y="1993392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已完成工作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225296" y="2313432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实现文件管理、预览分享、用户隔离、回收站、存储统计和 Docker Compose 容器化部署，并完成测试验证。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92240" y="1874520"/>
            <a:ext cx="461772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638544" y="1993392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638544" y="2313432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权限模型较简单，存储仍以本地目录为主；后续可扩展团队空间、对象存储、分享策略和日志监控。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37560" y="4480560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感谢各位老师批评指正</a:t>
            </a:r>
            <a:endParaRPr lang="en-US" sz="2700" dirty="0"/>
          </a:p>
        </p:txBody>
      </p:sp>
      <p:sp>
        <p:nvSpPr>
          <p:cNvPr id="60" name="Text 58"/>
          <p:cNvSpPr/>
          <p:nvPr/>
        </p:nvSpPr>
        <p:spPr>
          <a:xfrm>
            <a:off x="3913632" y="5010912"/>
            <a:ext cx="4407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CD3E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FOR YOUR CRITICISM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566160" y="580644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答辩学生：杨佳星    指导教师：王晓梅老师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西安邮电大学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基于容器化部署的云文件管理系统设计与实现</dc:title>
  <dc:subject>本科毕业论文答辩</dc:subject>
  <dc:creator>杨佳星</dc:creator>
  <cp:lastModifiedBy>杨佳星</cp:lastModifiedBy>
  <cp:revision>1</cp:revision>
  <dcterms:created xsi:type="dcterms:W3CDTF">2026-05-31T10:24:15Z</dcterms:created>
  <dcterms:modified xsi:type="dcterms:W3CDTF">2026-05-31T10:24:15Z</dcterms:modified>
</cp:coreProperties>
</file>