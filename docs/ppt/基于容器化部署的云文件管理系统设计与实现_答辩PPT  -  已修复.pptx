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86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各位老师好，我是网络工程 2203 班的杨佳星。我的毕业论文题目是《基于容器化部署的云文件管理系统设计与实现》。本课题围绕一个轻量级云文件管理系统展开，重点不是单纯做页面展示，而是完成从业务功能、访问链路到 Docker Compose 部署验证的一套可运行系统。下面我将从选题背景、系统设计、核心实现、测试验证和总结展望几个方面进行汇报。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题的背景来自日常学习和课程设计中的文件管理需求。随着电子文档、图片、视频和项目资料越来越多，单纯依赖本地文件夹或个人网盘，容易出现文件分散、版本混乱、预览受限等问题。另一方面，毕业设计系统在答辩时还要面对部署环境变化的问题，比如数据库、缓存、静态资源路径和文件目录权限都可能影响演示。基于这些问题，我选择用容器化方式把前端、后端、数据库、缓存和反向代理统一编排，让系统更容易恢复运行状态。这个工作既有工程实践意义，也能支撑答辩现场的稳定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从现有系统看，Dropbox、Google Drive、OneDrive 等商业云盘在文件同步、在线预览、链接分享和权限控制方面已经非常成熟；Nextcloud、Seafile 这类开源方案则更强调私有化部署和扩展能力。国内很多应用场景也依赖阿里云 OSS、腾讯云 COS、华为云 OBS 这类对象存储服务。本课题并不是要和这些成熟平台竞争，而是收敛到本科毕业设计场景，重点解决三个问题：系统环境能够快速复现，预览访问链路能够统一，用户视角能够做轻量隔离。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系统的目标是完成一个轻量级云文件管理系统的业务闭环。具体包括登录认证、文件上传、目录管理、在线预览、分享访问、回收站、存储统计和容器化部署。这里需要特别说明系统边界：论文和答辩中不把它表述为企业级多租户平台，也不引入完整 RBAC、组织架构、审批流或者大规模分布式存储等没有实现的数据和能力。我的答辩口径是可运行、可部署、可演示、可验证的本科毕业设计系统。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技术路线采用前后端分离和容器化部署。前端使用 Vue 3、Element Plus、Vite 和 Vue Router，主要实现登录、文件列表、上传、分享、回收站和预览页面。后端使用 Spring Boot 3.2.2 和 MyBatis-Plus 提供 REST 接口，MySQL 保存用户、文件、分享、回收站等结构化数据，Redis 保存上传分片状态和转码进度等短生命周期数据。部署层使用 Nginx 和 Docker Compose，把四个核心容器统一编排。整体流程是需求分析、概要设计、数据库与接口设计、核心模块实现、容器化部署，最后通过测试验证。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系统整体采用 B/S 架构和前后端分离模式。从层次上看，表现层由 Vue 和 Element Plus 构成，提供登录、文件管理、分享访问、回收站和预览界面；业务层由 Spring Boot 提供认证、文件、预览、分享、回收站和统计接口；数据与资源层由 MySQL、Redis 和本地文件目录组成；部署与代理层由 Nginx 和 Docker Compose 承担。浏览器统一访问 Nginx，Nginx 一方面返回前端静态资源，另一方面把 /api 请求转发给后端，后端再完成数据库访问、缓存读写和文件访问控制。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容器化部分是本课题的重点之一。系统通过 Docker Compose 编排四个核心容器：lfs-nginx 作为统一入口和反向代理，lfs-backend 运行 Spring Boot 业务服务，lfs-mysql 保存业务数据，lfs-redis 保存临时状态。MySQL、Redis 和上传文件目录都通过数据卷持久化，避免容器删除重建后业务数据丢失。启动时执行 docker compose up -d --build，MySQL 健康检查通过后后端再启动，并执行数据库兼容补丁，最后通过 Nginx 入口访问系统。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数据库设计以 lfs_file 文件表为核心。sys_user 保存用户账号和身份信息；lfs_file 保存文件和目录的元数据；lfs_file_share 保存分享码、过期时间和访问记录；lfs_file_trash 和 lfs_file_trash_detail 保存回收站批次和明细；lfs_file_thum 保存缩略图信息。其中 lfs_file.user_id 是轻量用户隔离的核心字段，idx_user_id 用来支持按用户过滤查询。考虑到演示环境可能复用旧数据库卷，系统启动时还会自动检查并补齐 user_id 字段、索引和 demo 演示账号。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文件管理模块负责上传、列表、目录、移动、重命名和删除。上传时，系统不仅要把物理文件保存到本地持久化目录，还要在 lfs_file 表中写入文件名、大小、类型、父目录和用户归属等元数据。目录树本质上也是文件表中的目录记录，后端按层级返回 is_dir 等于 1 的记录。移动文件时主要修改 parent_id，重命名和同名校验则配合前后端逻辑完成。这样文件系统的页面操作和数据库元数据能够保持一致。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预览模块主要解决路径和安全访问问题。系统把 /api/files、/api/thum、/api/trans 这三类资源路径统一交给 FilePreviewController 处理。控制器先做路径归一化，再校验 secret 和 expire 组成的签名，同时检查文件路径是否越界，最后根据文件类型设置响应头。收尾阶段修复的关键问题就是路径前缀错位和签名编码不一致。分享模块采用分享码加有效期的方式，访问分享页不需要登录，但它仍然只提供轻量匿名访问，不扩展成复杂协作权限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用户隔离采用 admin 和 demo 两类账号。admin 表示管理员视角，可以查看和管理全量文件数据；demo 表示普通演示用户，只能查看自己的文件空间。这个隔离不是靠前端隐藏按钮，而是后端通过 CurrentUserService 解析当前用户，再在文件列表、回收站和存储统计等查询中追加 user_id 条件。回收站支持删除、恢复、彻底删除和清空，存储统计按用户视角聚合空间使用量，从而避免列表不可见但统计仍计入的问题。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测试部分主要覆盖容器层、业务层、访问控制层和异常回归层。论文中整理了 T1 到 T17 的测试项，包括四容器启动、数据库兼容补丁、admin 和 demo 登录、文件上传、原文件预览、缩略图预览、分享创建与访问、回收站恢复和彻底删除、双用户隔离、超大文件上传拒绝、过期分享码访问和非法路径预览拒绝。自动化测试包含五个测试类，共 24 个用例，覆盖当前用户识别、兼容补丁、分享服务、存储统计和预览控制器。这里的重点是验证关键链路稳定，而不是包装成正式性能评测。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这一页展示的是系统真实运行截图。可以看到系统具备登录入口、文件列表和目录管理页面，文件预览能够正常返回，分享创建和匿名访问能够形成闭环，统计和用户视角也能配合验证。右下角展示 Docker Compose 运行状态，说明前端入口、后端服务、MySQL 和 Redis 能够按编排启动。总体来看，系统已经完成从登录、文件管理、预览、分享、回收站到容器化部署的演示闭环。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最后进行总结。本课题完成了前端、后端、数据层、反向代理和容器编排的整体架构，实现了登录认证、文件上传、目录管理、在线预览、分享访问、回收站和存储统计等核心业务；通过 user_id、CurrentUserService 和 SQL 条件实现轻量用户隔离；通过路径归一化和签名校验修复预览链路；并通过功能测试、异常测试和自动化测试完成验证。不足之处是权限模型还比较简单，存储仍以本地目录为主，监控和运维能力也比较基础。后续可以扩展团队空间、对象存储、分享策略、日志监控和预览缓存优化。我的汇报到此结束，感谢各位老师，敬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900000">
            <a:off x="9326880" y="-1554480"/>
            <a:ext cx="4754880" cy="4754880"/>
          </a:xfrm>
          <a:prstGeom prst="arc">
            <a:avLst/>
          </a:prstGeom>
          <a:solidFill>
            <a:srgbClr val="133765">
              <a:alpha val="82000"/>
            </a:srgbClr>
          </a:solidFill>
          <a:ln w="12700">
            <a:solidFill>
              <a:srgbClr val="2B5F9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9329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0" y="82296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1" name="Image 0" descr="/Users/rexanyang/Desktop/bishe/graduatejob-main/docs/ppt/assets/docx_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438912"/>
            <a:ext cx="914400" cy="347472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1627632" y="411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8E7FB"/>
                </a:solidFill>
              </a:rPr>
              <a:t>本科毕业论文答辩\n计算机学院 · 网络工程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594360" y="1664208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</a:rPr>
              <a:t>基于容器化部署的</a:t>
            </a:r>
            <a:endParaRPr lang="en-US" sz="30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</a:rPr>
              <a:t>云文件管理系统设计与实现</a:t>
            </a:r>
            <a:endParaRPr lang="en-US" sz="3000" dirty="0"/>
          </a:p>
        </p:txBody>
      </p:sp>
      <p:sp>
        <p:nvSpPr>
          <p:cNvPr id="54" name="Text 51"/>
          <p:cNvSpPr/>
          <p:nvPr/>
        </p:nvSpPr>
        <p:spPr>
          <a:xfrm>
            <a:off x="603504" y="28803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FE3FF"/>
                </a:solidFill>
              </a:rPr>
              <a:t>围绕文件管理业务闭环、预览访问链路与 Docker Compose 部署复现展开设计与验证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603504" y="5532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8E7FB"/>
                </a:solidFill>
              </a:rPr>
              <a:t>学生：杨佳星</a:t>
            </a:r>
            <a:endParaRPr lang="en-US" sz="880" dirty="0"/>
          </a:p>
        </p:txBody>
      </p:sp>
      <p:sp>
        <p:nvSpPr>
          <p:cNvPr id="56" name="Text 53"/>
          <p:cNvSpPr/>
          <p:nvPr/>
        </p:nvSpPr>
        <p:spPr>
          <a:xfrm>
            <a:off x="2432304" y="5532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8E7FB"/>
                </a:solidFill>
              </a:rPr>
              <a:t>学号：04222088</a:t>
            </a:r>
            <a:endParaRPr lang="en-US" sz="880" dirty="0"/>
          </a:p>
        </p:txBody>
      </p:sp>
      <p:sp>
        <p:nvSpPr>
          <p:cNvPr id="57" name="Text 54"/>
          <p:cNvSpPr/>
          <p:nvPr/>
        </p:nvSpPr>
        <p:spPr>
          <a:xfrm>
            <a:off x="4261104" y="55321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8E7FB"/>
                </a:solidFill>
              </a:rPr>
              <a:t>班级：2203</a:t>
            </a:r>
            <a:endParaRPr lang="en-US" sz="880" dirty="0"/>
          </a:p>
        </p:txBody>
      </p:sp>
      <p:sp>
        <p:nvSpPr>
          <p:cNvPr id="58" name="Text 55"/>
          <p:cNvSpPr/>
          <p:nvPr/>
        </p:nvSpPr>
        <p:spPr>
          <a:xfrm>
            <a:off x="603504" y="57881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8E7FB"/>
                </a:solidFill>
              </a:rPr>
              <a:t>专业：网络工程</a:t>
            </a:r>
            <a:endParaRPr lang="en-US" sz="880" dirty="0"/>
          </a:p>
        </p:txBody>
      </p:sp>
      <p:sp>
        <p:nvSpPr>
          <p:cNvPr id="59" name="Text 56"/>
          <p:cNvSpPr/>
          <p:nvPr/>
        </p:nvSpPr>
        <p:spPr>
          <a:xfrm>
            <a:off x="2432304" y="57881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8E7FB"/>
                </a:solidFill>
              </a:rPr>
              <a:t>指导教师：王晓梅</a:t>
            </a:r>
            <a:endParaRPr lang="en-US" sz="880" dirty="0"/>
          </a:p>
        </p:txBody>
      </p:sp>
      <p:sp>
        <p:nvSpPr>
          <p:cNvPr id="60" name="Text 57"/>
          <p:cNvSpPr/>
          <p:nvPr/>
        </p:nvSpPr>
        <p:spPr>
          <a:xfrm>
            <a:off x="4261104" y="57881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D8E7FB"/>
                </a:solidFill>
              </a:rPr>
              <a:t>答辩材料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选题背景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" y="15636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文件需求增加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课程设计、协作开发和日常学习中，文件存储、共享与在线预览需求持续增加。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07992" y="15636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传统部署易失控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07992" y="1920240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本机环境、数据库初始化、静态路径和目录权限会影响系统迁移与答辩演示。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001000" y="1417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65592" y="15636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容器化降低差异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65592" y="1920240"/>
            <a:ext cx="2916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将前端、后端、数据库、缓存和代理写入统一编排。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60120" y="3063240"/>
            <a:ext cx="32796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24712" y="3209544"/>
            <a:ext cx="2950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24712" y="3566160"/>
            <a:ext cx="29504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可运行、可复现的完整工程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4221480" y="33284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EAB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40936" y="3063240"/>
            <a:ext cx="32796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605528" y="3209544"/>
            <a:ext cx="2950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教学答辩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05528" y="3566160"/>
            <a:ext cx="29504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形成清晰演示链路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7702296" y="33284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EAB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21752" y="3063240"/>
            <a:ext cx="32796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086344" y="3209544"/>
            <a:ext cx="2950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技术应用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86344" y="3566160"/>
            <a:ext cx="2950464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验证常用 Web 技术组合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685800" y="541324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本课题关注的不只是“能做页面”，而是系统能否稳定部署、运行、演示和验证。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现状分析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国内外现状与课题定位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239572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代表特点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本课题取舍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商业云盘\nDropbox / Google Drive / OneDrive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同步、在线预览、链接分享、权限控制成熟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不与成熟商业平台竞争，不强调海量用户和企业级规模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开源私有云\nNextcloud / Seafile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私有化部署、存储自主可控、二次扩展能力强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吸收私有部署思路，收敛到毕设可实现范围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国内对象存储\nOSS / COS / OBS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支撑企业网盘、内容分发和多媒体平台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采用本地目录持久化，保留后续对象存储扩展方向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40690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0FBFF"/>
          </a:solidFill>
          <a:ln w="10160">
            <a:solidFill>
              <a:srgbClr val="BAE6FD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22960" y="42153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环境快速复现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572000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解决答辩环境依赖多、配置复杂、迁移困难的问题。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4315968" y="40690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0FBFF"/>
          </a:solidFill>
          <a:ln w="10160">
            <a:solidFill>
              <a:srgbClr val="BAE6FD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4480560" y="42153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预览访问链路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80560" y="4572000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Nginx、路径归一化、签名校验与本地文件读取保持一致。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973568" y="406908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0FBFF"/>
          </a:solidFill>
          <a:ln w="10160">
            <a:solidFill>
              <a:srgbClr val="BAE6FD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38160" y="421538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轻量用户隔离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38160" y="4572000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admin/demo 与 lfs_file.user_id 实现视角隔离。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研究内容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研究目标与完成范围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67665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1380744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完成的系统闭环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207008" cy="676656"/>
          </a:xfrm>
          <a:prstGeom prst="roundRect">
            <a:avLst>
              <a:gd name="adj" fmla="val 8108"/>
            </a:avLst>
          </a:prstGeom>
          <a:solidFill>
            <a:srgbClr val="F3F8FF"/>
          </a:solidFill>
          <a:ln w="7620">
            <a:solidFill>
              <a:srgbClr val="D7E8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AB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3113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登录认证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874520"/>
            <a:ext cx="1207008" cy="676656"/>
          </a:xfrm>
          <a:prstGeom prst="roundRect">
            <a:avLst>
              <a:gd name="adj" fmla="val 8108"/>
            </a:avLst>
          </a:prstGeom>
          <a:solidFill>
            <a:srgbClr val="F3F8FF"/>
          </a:solidFill>
          <a:ln w="7620">
            <a:solidFill>
              <a:srgbClr val="D7E8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468880" y="196596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AB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23113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文件上传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0" y="1874520"/>
            <a:ext cx="1207008" cy="676656"/>
          </a:xfrm>
          <a:prstGeom prst="roundRect">
            <a:avLst>
              <a:gd name="adj" fmla="val 8108"/>
            </a:avLst>
          </a:prstGeom>
          <a:solidFill>
            <a:srgbClr val="F3F8FF"/>
          </a:solidFill>
          <a:ln w="7620">
            <a:solidFill>
              <a:srgbClr val="D7E8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023360" y="196596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AB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23113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目录管理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1874520"/>
            <a:ext cx="1207008" cy="676656"/>
          </a:xfrm>
          <a:prstGeom prst="roundRect">
            <a:avLst>
              <a:gd name="adj" fmla="val 8108"/>
            </a:avLst>
          </a:prstGeom>
          <a:solidFill>
            <a:srgbClr val="F3F8FF"/>
          </a:solidFill>
          <a:ln w="7620">
            <a:solidFill>
              <a:srgbClr val="D7E8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577840" y="196596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AB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23113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在线预览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2834640"/>
            <a:ext cx="1207008" cy="676656"/>
          </a:xfrm>
          <a:prstGeom prst="roundRect">
            <a:avLst>
              <a:gd name="adj" fmla="val 8108"/>
            </a:avLst>
          </a:prstGeom>
          <a:solidFill>
            <a:srgbClr val="F3F8FF"/>
          </a:solidFill>
          <a:ln w="7620">
            <a:solidFill>
              <a:srgbClr val="D7E8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4400" y="292608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AB"/>
                </a:solidFill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19125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分享访问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68880" y="2834640"/>
            <a:ext cx="1207008" cy="676656"/>
          </a:xfrm>
          <a:prstGeom prst="roundRect">
            <a:avLst>
              <a:gd name="adj" fmla="val 8108"/>
            </a:avLst>
          </a:prstGeom>
          <a:solidFill>
            <a:srgbClr val="F3F8FF"/>
          </a:solidFill>
          <a:ln w="7620">
            <a:solidFill>
              <a:srgbClr val="D7E8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468880" y="292608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AB"/>
                </a:solidFill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19125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回收站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023360" y="2834640"/>
            <a:ext cx="1207008" cy="676656"/>
          </a:xfrm>
          <a:prstGeom prst="roundRect">
            <a:avLst>
              <a:gd name="adj" fmla="val 8108"/>
            </a:avLst>
          </a:prstGeom>
          <a:solidFill>
            <a:srgbClr val="F3F8FF"/>
          </a:solidFill>
          <a:ln w="7620">
            <a:solidFill>
              <a:srgbClr val="D7E8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023360" y="292608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AB"/>
                </a:solidFill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319125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存储统计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77840" y="2834640"/>
            <a:ext cx="1207008" cy="676656"/>
          </a:xfrm>
          <a:prstGeom prst="roundRect">
            <a:avLst>
              <a:gd name="adj" fmla="val 8108"/>
            </a:avLst>
          </a:prstGeom>
          <a:solidFill>
            <a:srgbClr val="F3F8FF"/>
          </a:solidFill>
          <a:ln w="7620">
            <a:solidFill>
              <a:srgbClr val="D7E8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577840" y="292608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AB"/>
                </a:solidFill>
              </a:rPr>
              <a:t>08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319125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F3A"/>
                </a:solidFill>
              </a:rPr>
              <a:t>容器部署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26680" y="123444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FF5F5"/>
          </a:solidFill>
          <a:ln w="10160">
            <a:solidFill>
              <a:srgbClr val="FECACA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891272" y="138074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明确不扩展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91272" y="1737360"/>
            <a:ext cx="328269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答辩中不将系统包装为企业级多租户 SaaS。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01000" y="228600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074152" y="235458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RBAC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418320" y="228600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491472" y="235458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01000" y="2761488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074152" y="283006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418320" y="2761488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491472" y="283006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企业级配额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001000" y="323697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074152" y="330555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海量用户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418320" y="3236976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EE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491472" y="330555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大规模分布式存储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8368" y="4681728"/>
            <a:ext cx="10680192" cy="868680"/>
          </a:xfrm>
          <a:prstGeom prst="roundRect">
            <a:avLst>
              <a:gd name="adj" fmla="val 8421"/>
            </a:avLst>
          </a:prstGeom>
          <a:solidFill>
            <a:srgbClr val="0F3B70"/>
          </a:solidFill>
          <a:ln w="10160">
            <a:solidFill>
              <a:srgbClr val="0F3B70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22960" y="4828032"/>
            <a:ext cx="10351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答辩口径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2960" y="5184648"/>
            <a:ext cx="1035100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8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面向本科毕业设计场景的轻量级云文件管理系统，重点强调可运行、可部署、可演示、可验证。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技术选型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661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58952" y="1472184"/>
            <a:ext cx="1331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1828800"/>
            <a:ext cx="133197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明确功能闭环与系统边界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2237232" y="15910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EAB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56688" y="1325880"/>
            <a:ext cx="1661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21280" y="1472184"/>
            <a:ext cx="1331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概要设计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21280" y="1828800"/>
            <a:ext cx="133197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划分架构、模块和访问关系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4099560" y="15910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EAB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19016" y="1325880"/>
            <a:ext cx="1661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483608" y="1472184"/>
            <a:ext cx="1331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数据库与接口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3608" y="1828800"/>
            <a:ext cx="133197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设计核心表和REST接口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5961888" y="15910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EAB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1325880"/>
            <a:ext cx="1661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45936" y="1472184"/>
            <a:ext cx="1331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45936" y="1828800"/>
            <a:ext cx="133197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上传、预览、分享、隔离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7824216" y="15910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EAB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3672" y="1325880"/>
            <a:ext cx="1661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08264" y="1472184"/>
            <a:ext cx="1331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容器部署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08264" y="1828800"/>
            <a:ext cx="133197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Compose编排四容器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9686544" y="15910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EAB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906000" y="1325880"/>
            <a:ext cx="1661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070592" y="1472184"/>
            <a:ext cx="1331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70592" y="1828800"/>
            <a:ext cx="133197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功能、异常与自动化测试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85800" y="32461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0392" y="33924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8680" y="38862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41832" y="395478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286000" y="38862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2359152" y="395478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68680" y="429768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41832" y="436626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0" y="429768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2359152" y="436626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343400" y="32461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507992" y="33924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后端与数据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26280" y="38862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599432" y="395478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3.2.2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943600" y="38862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016752" y="395478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26280" y="429768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599432" y="436626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943600" y="429768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16752" y="436626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7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001000" y="324612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165592" y="3392424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部署与预览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183880" y="38862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257032" y="395478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601200" y="38862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674352" y="395478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183880" y="429768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257032" y="436626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Aspose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601200" y="429768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9674352" y="436626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PDFBox / JAVE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总体设计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216152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50392" y="136245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850392" y="1719072"/>
            <a:ext cx="3831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登录页、文件管理页、分享访问页、回收站页、预览页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685800" y="2267712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0392" y="241401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850392" y="2770632"/>
            <a:ext cx="3831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登录认证、文件管理、预览、分享、回收站、统计接口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685800" y="3319272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0392" y="346557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数据与资源层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850392" y="3822192"/>
            <a:ext cx="3831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保存元数据，Redis 保存短生命周期状态，本地目录保存物理文件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685800" y="4370832"/>
            <a:ext cx="41605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50392" y="451713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部署与代理层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850392" y="4873752"/>
            <a:ext cx="3831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统一访问入口，Docker Compose 编排核心容器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5074920" y="1234440"/>
            <a:ext cx="6199632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0" descr="/Users/rexanyang/Desktop/bishe/graduatejob-main/docs/ppt/assets/figures/fig_3_1_system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93792" y="1353312"/>
            <a:ext cx="5961888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部署设计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系统架构与容器化部署设计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47548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1380744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四容器编排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6FAFF"/>
          </a:solidFill>
          <a:ln w="10160">
            <a:solidFill>
              <a:srgbClr val="DB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33272" y="202082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lfs-nginx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2377440"/>
            <a:ext cx="14996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统一入口与反向代理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96696" y="2542032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69848" y="26106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926080" y="18745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6FAFF"/>
          </a:solidFill>
          <a:ln w="10160">
            <a:solidFill>
              <a:srgbClr val="DB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090672" y="202082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90672" y="2377440"/>
            <a:ext cx="14996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业务接口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54096" y="2542032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127248" y="26106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8919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868680" y="31089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6FAFF"/>
          </a:solidFill>
          <a:ln w="10160">
            <a:solidFill>
              <a:srgbClr val="DB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33272" y="325526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lfs-mysql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33272" y="3611880"/>
            <a:ext cx="14996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业务数据持久化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96696" y="3776472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69848" y="384505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3306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926080" y="31089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6FAFF"/>
          </a:solidFill>
          <a:ln w="10160">
            <a:solidFill>
              <a:srgbClr val="DBE7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090672" y="325526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lfs-redis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90672" y="3611880"/>
            <a:ext cx="14996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临时状态与上传分片标识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054096" y="3776472"/>
            <a:ext cx="786384" cy="292608"/>
          </a:xfrm>
          <a:prstGeom prst="roundRect">
            <a:avLst>
              <a:gd name="adj" fmla="val 15625"/>
            </a:avLst>
          </a:prstGeom>
          <a:solidFill>
            <a:srgbClr val="E7F6FF"/>
          </a:solidFill>
          <a:ln w="6350">
            <a:solidFill>
              <a:srgbClr val="D4EB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127248" y="384505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F5E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6379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669280" y="123444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0" descr="/Users/rexanyang/Desktop/bishe/graduatejob-main/docs/ppt/assets/figures/fig_3_2_network_acc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88152" y="1353312"/>
            <a:ext cx="5294376" cy="3739896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8368" y="5513832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822960" y="5678424"/>
            <a:ext cx="10232136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部署流程：执行 docker compose up -d --build 后，MySQL 健康检查通过，后端启动并执行兼容补丁，最终通过 Nginx 入口访问系统。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数据设计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6492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Users/rexanyang/Desktop/bishe/graduatejob-main/docs/ppt/assets/figures/fig_3_4_er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353312"/>
            <a:ext cx="6254496" cy="4334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234440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571232" y="138074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核心表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71232" y="1737360"/>
            <a:ext cx="328269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lfs_file 保存文件和目录元数据，是分享、回收站、缩略图等关系的中心。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406640" y="256032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0FBFF"/>
          </a:solidFill>
          <a:ln w="10160">
            <a:solidFill>
              <a:srgbClr val="BAE6FD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571232" y="270662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用户隔离字段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71232" y="3063240"/>
            <a:ext cx="32826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lfs_file.user_id 标识文件归属，idx_user_id 支持按用户过滤查询。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406640" y="3977640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571232" y="412394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兼容性设计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71232" y="4480560"/>
            <a:ext cx="32826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启动期自动检查并补齐 user_id、索引和 demo 演示账号，适配旧 MySQL 数据卷。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核心实现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核心功能实现一：文件管理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Users/rexanyang/Desktop/bishe/graduatejob-main/docs/ppt/assets/figures/fig_4_3_upload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417320"/>
            <a:ext cx="4928616" cy="40142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1298448"/>
            <a:ext cx="49377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245352" y="144475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文件管理链路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45352" y="1801368"/>
            <a:ext cx="46085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上传时保存物理文件，并在 lfs_file 写入元数据；目录树按 is_dir=1 的层级记录返回；移动主要修改 parent_id。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80760" y="2880360"/>
            <a:ext cx="4937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/Users/rexanyang/Desktop/bishe/graduatejob-main/docs/ppt/assets/docx_media/image1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8192" y="2907792"/>
            <a:ext cx="4882896" cy="22768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80760" y="52669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真实系统截图：文件列表与目录管理界面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核心实现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核心功能实现二：预览与分享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565099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Users/rexanyang/Desktop/bishe/graduatejob-main/docs/ppt/assets/figures/fig_4_8_preview_ch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417320"/>
            <a:ext cx="5413248" cy="40142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65392" y="1298448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729984" y="1444752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预览访问控制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29984" y="1801368"/>
            <a:ext cx="4197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统一处理 /api/files、/api/thum、/api/trans，完成路径归一化、签名校验和越界检查。</a:t>
            </a:r>
            <a:endParaRPr lang="en-US" sz="890" dirty="0"/>
          </a:p>
        </p:txBody>
      </p:sp>
      <p:sp>
        <p:nvSpPr>
          <p:cNvPr id="10" name="Shape 7"/>
          <p:cNvSpPr/>
          <p:nvPr/>
        </p:nvSpPr>
        <p:spPr>
          <a:xfrm>
            <a:off x="6565392" y="2487168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729984" y="2633472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分享边界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29984" y="2990088"/>
            <a:ext cx="4197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采用“分享码 + 有效期 + 匿名访问”，不扩展为复杂协作权限系统。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6565392" y="3703320"/>
            <a:ext cx="217627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/Users/rexanyang/Desktop/bishe/graduatejob-main/docs/ppt/assets/docx_media/image2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92824" y="3730752"/>
            <a:ext cx="2121408" cy="11155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65392" y="49286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分享创建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8915400" y="3703320"/>
            <a:ext cx="217627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/Users/rexanyang/Desktop/bishe/graduatejob-main/docs/ppt/assets/docx_media/image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42832" y="3730752"/>
            <a:ext cx="2121408" cy="11155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49286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分享访问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核心实现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核心功能实现三：用户隔离、回收站与统计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4526280" cy="1005840"/>
          </a:xfrm>
          <a:prstGeom prst="roundRect">
            <a:avLst>
              <a:gd name="adj" fmla="val 7273"/>
            </a:avLst>
          </a:prstGeom>
          <a:solidFill>
            <a:srgbClr val="F0FBFF"/>
          </a:solidFill>
          <a:ln w="10160">
            <a:solidFill>
              <a:srgbClr val="BAE6FD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22960" y="138074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管理员视角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4197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可查看和管理全量文件数据，用于展示历史文件与完整数据。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4526280" cy="1005840"/>
          </a:xfrm>
          <a:prstGeom prst="roundRect">
            <a:avLst>
              <a:gd name="adj" fmla="val 7273"/>
            </a:avLst>
          </a:prstGeom>
          <a:solidFill>
            <a:srgbClr val="F0FBFF"/>
          </a:solidFill>
          <a:ln w="10160">
            <a:solidFill>
              <a:srgbClr val="BAE6FD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2960" y="2633472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普通用户视角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90088"/>
            <a:ext cx="4197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查询时追加 user_id = currentUserId，仅命中自身文件空间。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3749040"/>
            <a:ext cx="4526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89534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统一视角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4197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文件列表、回收站、存储统计共享同一用户视角，避免可见范围与统计范围不一致。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325880"/>
            <a:ext cx="256032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0" descr="/Users/rexanyang/Desktop/bishe/graduatejob-main/docs/ppt/assets/docx_media/image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05272" y="1353312"/>
            <a:ext cx="2505456" cy="13898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577840" y="28254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用户文件空间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8366760" y="1325880"/>
            <a:ext cx="256032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/Users/rexanyang/Desktop/bishe/graduatejob-main/docs/ppt/assets/docx_media/image2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94192" y="1353312"/>
            <a:ext cx="2505456" cy="1389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66760" y="28254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文件列表/统计视角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577840" y="3337560"/>
            <a:ext cx="53492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2" descr="/Users/rexanyang/Desktop/bishe/graduatejob-main/docs/ppt/assets/docx_media/image31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05272" y="3364992"/>
            <a:ext cx="5294376" cy="16824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77840" y="5129784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真实测试截图：多视角访问结果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测试验证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4251960" cy="452628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Users/rexanyang/Desktop/bishe/graduatejob-main/docs/ppt/assets/figures/fig_5_1_test_scop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353312"/>
            <a:ext cx="4014216" cy="4288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57800" y="123444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257800" y="1353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EAB"/>
                </a:solidFill>
              </a:rPr>
              <a:t>17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257800" y="1664208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E293B"/>
                </a:solidFill>
              </a:rPr>
              <a:t>功能与异常测试项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7132320" y="123444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132320" y="1353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EAB"/>
                </a:solidFill>
              </a:rPr>
              <a:t>5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132320" y="1664208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E293B"/>
                </a:solidFill>
              </a:rPr>
              <a:t>自动化测试类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9006840" y="123444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006840" y="1353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EAB"/>
                </a:solidFill>
              </a:rPr>
              <a:t>24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006840" y="1664208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E293B"/>
                </a:solidFill>
              </a:rPr>
              <a:t>自动化用例通过</a:t>
            </a:r>
            <a:endParaRPr lang="en-US" sz="78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212848"/>
          <a:ext cx="5943600" cy="321868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测试类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覆盖内容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CurrentUserServiceTest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校验、用户编号、isAdmin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5/5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SchemaCompatibilityRunnerTest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字段、索引、demo 账号补齐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4/4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FileShareServiceTest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分享码、冲突重生、过期访问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6/6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FileServiceStorageStatsTest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管理员与演示用户统计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4/4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FilePreviewControllerTest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路径归一化、签名失效、越界拒绝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5/5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运行效果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系统运行效果展示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18211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/Users/rexanyang/Desktop/bishe/graduatejob-main/docs/ppt/assets/docx_media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12" y="1261872"/>
            <a:ext cx="3127248" cy="1115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59736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登录认证入口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325112" y="1234440"/>
            <a:ext cx="318211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/Users/rexanyang/Desktop/bishe/graduatejob-main/docs/ppt/assets/docx_media/image1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52544" y="1261872"/>
            <a:ext cx="3127248" cy="11155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25112" y="2459736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文件列表与目录管理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8010144" y="1234440"/>
            <a:ext cx="318211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2" descr="/Users/rexanyang/Desktop/bishe/graduatejob-main/docs/ppt/assets/docx_media/image1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37576" y="1261872"/>
            <a:ext cx="3127248" cy="11155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10144" y="2459736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文件预览返回正常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640080" y="2862072"/>
            <a:ext cx="318211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3" descr="/Users/rexanyang/Desktop/bishe/graduatejob-main/docs/ppt/assets/docx_media/image2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7512" y="2889504"/>
            <a:ext cx="3127248" cy="11155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" y="4087368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分享创建与有效期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4325112" y="2862072"/>
            <a:ext cx="318211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4" descr="/Users/rexanyang/Desktop/bishe/graduatejob-main/docs/ppt/assets/docx_media/image24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52544" y="2889504"/>
            <a:ext cx="3127248" cy="11155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25112" y="4087368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统计/访问视角验证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8010144" y="2862072"/>
            <a:ext cx="318211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C7D6EA"/>
            </a:solidFill>
            <a:prstDash val="solid"/>
          </a:ln>
          <a:effectLst>
            <a:outerShdw blurRad="50800" dist="50800" dir="2700000" algn="bl" rotWithShape="0">
              <a:srgbClr val="0F2E5F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5" descr="/Users/rexanyang/Desktop/bishe/graduatejob-main/docs/ppt/assets/docx_media/image32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37576" y="2889504"/>
            <a:ext cx="3127248" cy="11155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10144" y="4087368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运行状态</a:t>
            </a:r>
            <a:endParaRPr lang="en-US" sz="750" dirty="0"/>
          </a:p>
        </p:txBody>
      </p:sp>
      <p:sp>
        <p:nvSpPr>
          <p:cNvPr id="23" name="Shape 15"/>
          <p:cNvSpPr/>
          <p:nvPr/>
        </p:nvSpPr>
        <p:spPr>
          <a:xfrm>
            <a:off x="658368" y="5166360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F3B70"/>
          </a:solidFill>
          <a:ln w="10160">
            <a:solidFill>
              <a:srgbClr val="0F3B70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6"/>
          <p:cNvSpPr/>
          <p:nvPr/>
        </p:nvSpPr>
        <p:spPr>
          <a:xfrm>
            <a:off x="822960" y="5312664"/>
            <a:ext cx="10232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运行效果结论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822960" y="5669280"/>
            <a:ext cx="10232136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E8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系统完成从登录、文件管理、预览、分享、回收站到容器化部署的可演示闭环。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900000">
            <a:off x="9326880" y="-1554480"/>
            <a:ext cx="4754880" cy="4754880"/>
          </a:xfrm>
          <a:prstGeom prst="arc">
            <a:avLst/>
          </a:prstGeom>
          <a:solidFill>
            <a:srgbClr val="133765">
              <a:alpha val="82000"/>
            </a:srgbClr>
          </a:solidFill>
          <a:ln w="12700">
            <a:solidFill>
              <a:srgbClr val="2B5F9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93292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0" y="82296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8368" y="502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8BE4EE"/>
                </a:solidFill>
              </a:rPr>
              <a:t>13 总结与展望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658368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总结与展望</a:t>
            </a:r>
            <a:endParaRPr lang="en-US" sz="2900" dirty="0"/>
          </a:p>
        </p:txBody>
      </p:sp>
      <p:sp>
        <p:nvSpPr>
          <p:cNvPr id="53" name="Shape 51"/>
          <p:cNvSpPr/>
          <p:nvPr/>
        </p:nvSpPr>
        <p:spPr>
          <a:xfrm>
            <a:off x="685800" y="18288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50392" y="19751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已完成工作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50392" y="2331720"/>
            <a:ext cx="47457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完成系统架构、核心业务闭环、轻量用户隔离、预览链路修复、容器化部署与测试验证。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00800" y="18288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0160">
            <a:solidFill>
              <a:srgbClr val="DBE7F5"/>
            </a:solidFill>
            <a:prstDash val="solid"/>
          </a:ln>
          <a:effectLst>
            <a:outerShdw blurRad="50800" dist="50800" dir="2700000" algn="bl" rotWithShape="0">
              <a:srgbClr val="0F2E5F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6565392" y="19751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565392" y="2331720"/>
            <a:ext cx="47457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权限模型较简单，存储仍采用本地目录；后续可扩展团队空间、对象存储、分享策略、日志监控和预览缓存。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5800" y="5074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敬请各位老师批评指正</a:t>
            </a:r>
            <a:endParaRPr lang="en-US" sz="2500" dirty="0"/>
          </a:p>
        </p:txBody>
      </p:sp>
      <p:sp>
        <p:nvSpPr>
          <p:cNvPr id="60" name="Text 58"/>
          <p:cNvSpPr/>
          <p:nvPr/>
        </p:nvSpPr>
        <p:spPr>
          <a:xfrm>
            <a:off x="685800" y="5715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DEB"/>
                </a:solidFill>
              </a:rPr>
              <a:t>谢谢！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1288</Words>
  <Application>Microsoft Macintosh PowerPoint</Application>
  <PresentationFormat>宽屏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西安邮电大学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基于容器化部署的云文件管理系统设计与实现</dc:title>
  <dc:subject>本科毕业论文答辩</dc:subject>
  <dc:creator>杨佳星</dc:creator>
  <cp:lastModifiedBy>T191634</cp:lastModifiedBy>
  <cp:revision>2</cp:revision>
  <dcterms:created xsi:type="dcterms:W3CDTF">2026-05-28T07:30:19Z</dcterms:created>
  <dcterms:modified xsi:type="dcterms:W3CDTF">2026-05-28T07:39:59Z</dcterms:modified>
</cp:coreProperties>
</file>